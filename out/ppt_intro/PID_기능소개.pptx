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프로그램 한눈에" id="{84fbd77b-e872-fa06-ddc3-45ff2544d660}">
          <p14:sldIdLst>
            <p14:sldId id="256"/>
            <p14:sldId id="257"/>
          </p14:sldIdLst>
        </p14:section>
        <p14:section name="기본 흐름" id="{0bd2e750-ce58-0139-61d6-c66caa05866a}">
          <p14:sldIdLst>
            <p14:sldId id="258"/>
            <p14:sldId id="259"/>
            <p14:sldId id="260"/>
            <p14:sldId id="261"/>
          </p14:sldIdLst>
        </p14:section>
        <p14:section name="검토 · 편집 · 개정 대조" id="{e64f9644-a7cb-bffd-4f29-12a34e7638b6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출력 · 협업 · 운영" id="{072bbf4c-f2d1-7592-39b6-faa3e89b5d34}">
          <p14:sldIdLst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프로그램 소개 덱. 모든 화면은 실제 서버에서 찍은 동작 화면입니다.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절차는 docs/dashboard_embed.md · docs/voc.md 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bg>
      <p:bgPr>
        <a:solidFill>
          <a:srgbClr val="F7F2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A5FB4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6B5F4F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Shape 0"/>
          <p:cNvSpPr/>
          <p:nvPr/>
        </p:nvSpPr>
        <p:spPr>
          <a:xfrm>
            <a:off x="1828800" y="1261872"/>
            <a:ext cx="10042855" cy="0"/>
          </a:xfrm>
          <a:prstGeom prst="line">
            <a:avLst/>
          </a:prstGeom>
          <a:noFill/>
          <a:ln w="12700">
            <a:solidFill>
              <a:srgbClr val="E3DCCB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8288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4F"/>
                </a:solidFill>
              </a:rPr>
              <a:t>P&amp;ID 계기·밸브 추출 프로그램 — 기능별 동작 화면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kicker"/>
          <p:cNvSpPr txBox="1"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9C4D8"/>
                </a:solidFill>
              </a:rPr>
              <a:t>SAMSUNG C&amp;T · P&amp;ID EXTRACTOR</a:t>
            </a:r>
            <a:endParaRPr lang="en-US" sz="1300" dirty="0"/>
          </a:p>
        </p:txBody>
      </p:sp>
      <p:sp>
        <p:nvSpPr>
          <p:cNvPr id="3" name="cover title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P&amp;ID 계기·밸브 추출 프로그램</a:t>
            </a:r>
            <a:endParaRPr lang="en-US" sz="4800" dirty="0"/>
          </a:p>
        </p:txBody>
      </p:sp>
      <p:sp>
        <p:nvSpPr>
          <p:cNvPr id="4" name="cover sub"/>
          <p:cNvSpPr txBox="1"/>
          <p:nvPr/>
        </p:nvSpPr>
        <p:spPr>
          <a:xfrm>
            <a:off x="822960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FE6F3"/>
                </a:solidFill>
              </a:rPr>
              <a:t>기능별 실제 동작 화면과 함께 보는 소개</a:t>
            </a:r>
            <a:endParaRPr lang="en-US" sz="2200" dirty="0"/>
          </a:p>
        </p:txBody>
      </p:sp>
      <p:sp>
        <p:nvSpPr>
          <p:cNvPr id="5" name="cover chip PDF · DXF 입력"/>
          <p:cNvSpPr/>
          <p:nvPr/>
        </p:nvSpPr>
        <p:spPr>
          <a:xfrm>
            <a:off x="822960" y="4023360"/>
            <a:ext cx="2322576" cy="457200"/>
          </a:xfrm>
          <a:prstGeom prst="roundRect">
            <a:avLst>
              <a:gd name="adj" fmla="val 50000"/>
            </a:avLst>
          </a:prstGeom>
          <a:solidFill>
            <a:srgbClr val="2A3750"/>
          </a:solidFill>
          <a:ln w="9525">
            <a:solidFill>
              <a:srgbClr val="3D4B66"/>
            </a:solidFill>
            <a:prstDash val="solid"/>
          </a:ln>
        </p:spPr>
      </p:sp>
      <p:sp>
        <p:nvSpPr>
          <p:cNvPr id="6" name="cover chip text PDF · DXF 입력"/>
          <p:cNvSpPr txBox="1"/>
          <p:nvPr/>
        </p:nvSpPr>
        <p:spPr>
          <a:xfrm>
            <a:off x="822960" y="40233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PDF · DXF 입력</a:t>
            </a:r>
            <a:endParaRPr lang="en-US" sz="1300" dirty="0"/>
          </a:p>
        </p:txBody>
      </p:sp>
      <p:sp>
        <p:nvSpPr>
          <p:cNvPr id="7" name="cover chip 범례에서 규칙을 읽는 엔진"/>
          <p:cNvSpPr/>
          <p:nvPr/>
        </p:nvSpPr>
        <p:spPr>
          <a:xfrm>
            <a:off x="3282696" y="4023360"/>
            <a:ext cx="2633472" cy="457200"/>
          </a:xfrm>
          <a:prstGeom prst="roundRect">
            <a:avLst>
              <a:gd name="adj" fmla="val 50000"/>
            </a:avLst>
          </a:prstGeom>
          <a:solidFill>
            <a:srgbClr val="2A3750"/>
          </a:solidFill>
          <a:ln w="9525">
            <a:solidFill>
              <a:srgbClr val="3D4B66"/>
            </a:solidFill>
            <a:prstDash val="solid"/>
          </a:ln>
        </p:spPr>
      </p:sp>
      <p:sp>
        <p:nvSpPr>
          <p:cNvPr id="8" name="cover chip text 범례에서 규칙을 읽는 엔진"/>
          <p:cNvSpPr txBox="1"/>
          <p:nvPr/>
        </p:nvSpPr>
        <p:spPr>
          <a:xfrm>
            <a:off x="3282696" y="40233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범례에서 규칙을 읽는 엔진</a:t>
            </a:r>
            <a:endParaRPr lang="en-US" sz="1300" dirty="0"/>
          </a:p>
        </p:txBody>
      </p:sp>
      <p:sp>
        <p:nvSpPr>
          <p:cNvPr id="9" name="cover chip 도면 위 검토·편집"/>
          <p:cNvSpPr/>
          <p:nvPr/>
        </p:nvSpPr>
        <p:spPr>
          <a:xfrm>
            <a:off x="6053328" y="40233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A3750"/>
          </a:solidFill>
          <a:ln w="9525">
            <a:solidFill>
              <a:srgbClr val="3D4B66"/>
            </a:solidFill>
            <a:prstDash val="solid"/>
          </a:ln>
        </p:spPr>
      </p:sp>
      <p:sp>
        <p:nvSpPr>
          <p:cNvPr id="10" name="cover chip text 도면 위 검토·편집"/>
          <p:cNvSpPr txBox="1"/>
          <p:nvPr/>
        </p:nvSpPr>
        <p:spPr>
          <a:xfrm>
            <a:off x="6053328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도면 위 검토·편집</a:t>
            </a:r>
            <a:endParaRPr lang="en-US" sz="1300" dirty="0"/>
          </a:p>
        </p:txBody>
      </p:sp>
      <p:sp>
        <p:nvSpPr>
          <p:cNvPr id="11" name="cover chip Excel 출력 · 개정 대조"/>
          <p:cNvSpPr/>
          <p:nvPr/>
        </p:nvSpPr>
        <p:spPr>
          <a:xfrm>
            <a:off x="8202168" y="4023360"/>
            <a:ext cx="2944368" cy="457200"/>
          </a:xfrm>
          <a:prstGeom prst="roundRect">
            <a:avLst>
              <a:gd name="adj" fmla="val 50000"/>
            </a:avLst>
          </a:prstGeom>
          <a:solidFill>
            <a:srgbClr val="2A3750"/>
          </a:solidFill>
          <a:ln w="9525">
            <a:solidFill>
              <a:srgbClr val="3D4B66"/>
            </a:solidFill>
            <a:prstDash val="solid"/>
          </a:ln>
        </p:spPr>
      </p:sp>
      <p:sp>
        <p:nvSpPr>
          <p:cNvPr id="12" name="cover chip text Excel 출력 · 개정 대조"/>
          <p:cNvSpPr txBox="1"/>
          <p:nvPr/>
        </p:nvSpPr>
        <p:spPr>
          <a:xfrm>
            <a:off x="8202168" y="40233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Excel 출력 · 개정 대조</a:t>
            </a:r>
            <a:endParaRPr lang="en-US" sz="1300" dirty="0"/>
          </a:p>
        </p:txBody>
      </p:sp>
      <p:sp>
        <p:nvSpPr>
          <p:cNvPr id="13" name="cover note"/>
          <p:cNvSpPr txBox="1"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D8"/>
                </a:solidFill>
              </a:rPr>
              <a:t>화면은 QFE 프로젝트 Rev.B 분석 결과 (QFE_260326.pdf · 93장)</a:t>
            </a:r>
            <a:endParaRPr lang="en-US" sz="1200" dirty="0"/>
          </a:p>
        </p:txBody>
      </p:sp>
      <p:sp>
        <p:nvSpPr>
          <p:cNvPr id="14" name="cover date"/>
          <p:cNvSpPr txBox="1"/>
          <p:nvPr/>
        </p:nvSpPr>
        <p:spPr>
          <a:xfrm>
            <a:off x="8503920" y="6035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4D8"/>
                </a:solidFill>
              </a:rPr>
              <a:t>2026-10-10 · hotfix80 기준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active"/>
          <p:cNvSpPr/>
          <p:nvPr/>
        </p:nvSpPr>
        <p:spPr>
          <a:xfrm>
            <a:off x="109728" y="1161288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7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프로그램 한눈에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P&amp;ID 도면을 넣으면 계기·밸브 목록을 발주처 양식으로 내보냅니다</a:t>
            </a:r>
            <a:endParaRPr lang="en-US" sz="1300" dirty="0"/>
          </a:p>
        </p:txBody>
      </p:sp>
      <p:sp>
        <p:nvSpPr>
          <p:cNvPr id="26" name="chip 4단계"/>
          <p:cNvSpPr/>
          <p:nvPr/>
        </p:nvSpPr>
        <p:spPr>
          <a:xfrm>
            <a:off x="11304727" y="384048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4단계"/>
          <p:cNvSpPr txBox="1"/>
          <p:nvPr/>
        </p:nvSpPr>
        <p:spPr>
          <a:xfrm>
            <a:off x="11304727" y="3840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4단계</a:t>
            </a:r>
            <a:endParaRPr lang="en-US" sz="1000" dirty="0"/>
          </a:p>
        </p:txBody>
      </p:sp>
      <p:sp>
        <p:nvSpPr>
          <p:cNvPr id="28" name="step card 입력"/>
          <p:cNvSpPr/>
          <p:nvPr/>
        </p:nvSpPr>
        <p:spPr>
          <a:xfrm>
            <a:off x="1828800" y="1508760"/>
            <a:ext cx="2373554" cy="3200400"/>
          </a:xfrm>
          <a:prstGeom prst="roundRect">
            <a:avLst>
              <a:gd name="adj" fmla="val 3082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9" name="step circle 입력"/>
          <p:cNvSpPr/>
          <p:nvPr/>
        </p:nvSpPr>
        <p:spPr>
          <a:xfrm>
            <a:off x="2011680" y="1691640"/>
            <a:ext cx="457200" cy="457200"/>
          </a:xfrm>
          <a:prstGeom prst="ellipse">
            <a:avLst/>
          </a:prstGeom>
          <a:solidFill>
            <a:srgbClr val="1A5FB4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30" name="step no 입력"/>
          <p:cNvSpPr txBox="1"/>
          <p:nvPr/>
        </p:nvSpPr>
        <p:spPr>
          <a:xfrm>
            <a:off x="20116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31" name="step title 입력"/>
          <p:cNvSpPr txBox="1"/>
          <p:nvPr/>
        </p:nvSpPr>
        <p:spPr>
          <a:xfrm>
            <a:off x="2606040" y="1691640"/>
            <a:ext cx="1459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FB4"/>
                </a:solidFill>
              </a:rPr>
              <a:t>입력</a:t>
            </a:r>
            <a:endParaRPr lang="en-US" sz="1800" dirty="0"/>
          </a:p>
        </p:txBody>
      </p:sp>
      <p:sp>
        <p:nvSpPr>
          <p:cNvPr id="32" name="step body 입력"/>
          <p:cNvSpPr txBox="1"/>
          <p:nvPr/>
        </p:nvSpPr>
        <p:spPr>
          <a:xfrm>
            <a:off x="2011680" y="2331720"/>
            <a:ext cx="200779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F33"/>
                </a:solidFill>
              </a:rPr>
              <a:t>PDF (A1·A3 · 회전 섞임) 또는 DXF 묶음(zip)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F33"/>
                </a:solidFill>
              </a:rPr>
              <a:t>프로젝트 · 입찰/실행 종류 · 이전 Rev 선택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F33"/>
                </a:solidFill>
              </a:rPr>
              <a:t>암호·손상·스캔 PDF 는 원인을 말하며 거절</a:t>
            </a:r>
            <a:endParaRPr lang="en-US" sz="1200" dirty="0"/>
          </a:p>
        </p:txBody>
      </p:sp>
      <p:sp>
        <p:nvSpPr>
          <p:cNvPr id="33" name="step card 엔진 분석"/>
          <p:cNvSpPr/>
          <p:nvPr/>
        </p:nvSpPr>
        <p:spPr>
          <a:xfrm>
            <a:off x="4385234" y="1508760"/>
            <a:ext cx="2373554" cy="3200400"/>
          </a:xfrm>
          <a:prstGeom prst="roundRect">
            <a:avLst>
              <a:gd name="adj" fmla="val 3082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4" name="step circle 엔진 분석"/>
          <p:cNvSpPr/>
          <p:nvPr/>
        </p:nvSpPr>
        <p:spPr>
          <a:xfrm>
            <a:off x="4568114" y="1691640"/>
            <a:ext cx="457200" cy="457200"/>
          </a:xfrm>
          <a:prstGeom prst="ellipse">
            <a:avLst/>
          </a:prstGeom>
          <a:solidFill>
            <a:srgbClr val="0F8F80"/>
          </a:solidFill>
          <a:ln w="12700">
            <a:solidFill>
              <a:srgbClr val="0F8F80"/>
            </a:solidFill>
            <a:prstDash val="solid"/>
          </a:ln>
        </p:spPr>
      </p:sp>
      <p:sp>
        <p:nvSpPr>
          <p:cNvPr id="35" name="step no 엔진 분석"/>
          <p:cNvSpPr txBox="1"/>
          <p:nvPr/>
        </p:nvSpPr>
        <p:spPr>
          <a:xfrm>
            <a:off x="456811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6" name="step title 엔진 분석"/>
          <p:cNvSpPr txBox="1"/>
          <p:nvPr/>
        </p:nvSpPr>
        <p:spPr>
          <a:xfrm>
            <a:off x="5162474" y="1691640"/>
            <a:ext cx="1459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8F80"/>
                </a:solidFill>
              </a:rPr>
              <a:t>엔진 분석</a:t>
            </a:r>
            <a:endParaRPr lang="en-US" sz="1800" dirty="0"/>
          </a:p>
        </p:txBody>
      </p:sp>
      <p:sp>
        <p:nvSpPr>
          <p:cNvPr id="37" name="step body 엔진 분석"/>
          <p:cNvSpPr txBox="1"/>
          <p:nvPr/>
        </p:nvSpPr>
        <p:spPr>
          <a:xfrm>
            <a:off x="4568114" y="2331720"/>
            <a:ext cx="200779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F33"/>
                </a:solidFill>
              </a:rPr>
              <a:t>Symbol &amp; Legend 에서 치수·ISA 문자표·승수 유도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F33"/>
                </a:solidFill>
              </a:rPr>
              <a:t>계기 버블 · 밸브 몸체·액추에이터 · 별표(공급 주체)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F33"/>
                </a:solidFill>
              </a:rPr>
              <a:t>태그 · 라인 번호 · Description · Typical · NOTES 승수</a:t>
            </a:r>
            <a:endParaRPr lang="en-US" sz="1200" dirty="0"/>
          </a:p>
        </p:txBody>
      </p:sp>
      <p:sp>
        <p:nvSpPr>
          <p:cNvPr id="38" name="step card 검토 화면"/>
          <p:cNvSpPr/>
          <p:nvPr/>
        </p:nvSpPr>
        <p:spPr>
          <a:xfrm>
            <a:off x="6941668" y="1508760"/>
            <a:ext cx="2373554" cy="3200400"/>
          </a:xfrm>
          <a:prstGeom prst="roundRect">
            <a:avLst>
              <a:gd name="adj" fmla="val 3082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9" name="step circle 검토 화면"/>
          <p:cNvSpPr/>
          <p:nvPr/>
        </p:nvSpPr>
        <p:spPr>
          <a:xfrm>
            <a:off x="7124548" y="1691640"/>
            <a:ext cx="457200" cy="457200"/>
          </a:xfrm>
          <a:prstGeom prst="ellipse">
            <a:avLst/>
          </a:prstGeom>
          <a:solidFill>
            <a:srgbClr val="B07614"/>
          </a:solidFill>
          <a:ln w="12700">
            <a:solidFill>
              <a:srgbClr val="B07614"/>
            </a:solidFill>
            <a:prstDash val="solid"/>
          </a:ln>
        </p:spPr>
      </p:sp>
      <p:sp>
        <p:nvSpPr>
          <p:cNvPr id="40" name="step no 검토 화면"/>
          <p:cNvSpPr txBox="1"/>
          <p:nvPr/>
        </p:nvSpPr>
        <p:spPr>
          <a:xfrm>
            <a:off x="712454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1" name="step title 검토 화면"/>
          <p:cNvSpPr txBox="1"/>
          <p:nvPr/>
        </p:nvSpPr>
        <p:spPr>
          <a:xfrm>
            <a:off x="7718908" y="1691640"/>
            <a:ext cx="1459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7614"/>
                </a:solidFill>
              </a:rPr>
              <a:t>검토 화면</a:t>
            </a:r>
            <a:endParaRPr lang="en-US" sz="1800" dirty="0"/>
          </a:p>
        </p:txBody>
      </p:sp>
      <p:sp>
        <p:nvSpPr>
          <p:cNvPr id="42" name="step body 검토 화면"/>
          <p:cNvSpPr txBox="1"/>
          <p:nvPr/>
        </p:nvSpPr>
        <p:spPr>
          <a:xfrm>
            <a:off x="7124548" y="2331720"/>
            <a:ext cx="200779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F33"/>
                </a:solidFill>
              </a:rPr>
              <a:t>도면 오버레이 + 엑셀식 목록 + 근거 패널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F33"/>
                </a:solidFill>
              </a:rPr>
              <a:t>마크업 · 수량 승수 · 메모·핀 · 듀얼 모니터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F33"/>
                </a:solidFill>
              </a:rPr>
              <a:t>이전 Rev 와 나란히 대조 (추가·수정·삭제)</a:t>
            </a:r>
            <a:endParaRPr lang="en-US" sz="1200" dirty="0"/>
          </a:p>
        </p:txBody>
      </p:sp>
      <p:sp>
        <p:nvSpPr>
          <p:cNvPr id="43" name="step card 출력"/>
          <p:cNvSpPr/>
          <p:nvPr/>
        </p:nvSpPr>
        <p:spPr>
          <a:xfrm>
            <a:off x="9498101" y="1508760"/>
            <a:ext cx="2373554" cy="3200400"/>
          </a:xfrm>
          <a:prstGeom prst="roundRect">
            <a:avLst>
              <a:gd name="adj" fmla="val 3082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44" name="step circle 출력"/>
          <p:cNvSpPr/>
          <p:nvPr/>
        </p:nvSpPr>
        <p:spPr>
          <a:xfrm>
            <a:off x="9680981" y="1691640"/>
            <a:ext cx="457200" cy="457200"/>
          </a:xfrm>
          <a:prstGeom prst="ellipse">
            <a:avLst/>
          </a:prstGeom>
          <a:solidFill>
            <a:srgbClr val="C2453F"/>
          </a:solidFill>
          <a:ln w="12700">
            <a:solidFill>
              <a:srgbClr val="C2453F"/>
            </a:solidFill>
            <a:prstDash val="solid"/>
          </a:ln>
        </p:spPr>
      </p:sp>
      <p:sp>
        <p:nvSpPr>
          <p:cNvPr id="45" name="step no 출력"/>
          <p:cNvSpPr txBox="1"/>
          <p:nvPr/>
        </p:nvSpPr>
        <p:spPr>
          <a:xfrm>
            <a:off x="9680981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6" name="step title 출력"/>
          <p:cNvSpPr txBox="1"/>
          <p:nvPr/>
        </p:nvSpPr>
        <p:spPr>
          <a:xfrm>
            <a:off x="10275341" y="1691640"/>
            <a:ext cx="1459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53F"/>
                </a:solidFill>
              </a:rPr>
              <a:t>출력</a:t>
            </a:r>
            <a:endParaRPr lang="en-US" sz="1800" dirty="0"/>
          </a:p>
        </p:txBody>
      </p:sp>
      <p:sp>
        <p:nvSpPr>
          <p:cNvPr id="47" name="step body 출력"/>
          <p:cNvSpPr txBox="1"/>
          <p:nvPr/>
        </p:nvSpPr>
        <p:spPr>
          <a:xfrm>
            <a:off x="9680981" y="2331720"/>
            <a:ext cx="200779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F33"/>
                </a:solidFill>
              </a:rPr>
              <a:t>발주처 양식 Excel (FIELD · MOV · BFV)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F33"/>
                </a:solidFill>
              </a:rPr>
              <a:t>변경 내역 Excel · 피드백 zip · 진단 zip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F33"/>
                </a:solidFill>
              </a:rPr>
              <a:t>VOC 함 → 개발 반영 (중복 반영 방지)</a:t>
            </a:r>
            <a:endParaRPr lang="en-US" sz="1200" dirty="0"/>
          </a:p>
        </p:txBody>
      </p:sp>
      <p:sp>
        <p:nvSpPr>
          <p:cNvPr id="48" name="principle box"/>
          <p:cNvSpPr/>
          <p:nvPr/>
        </p:nvSpPr>
        <p:spPr>
          <a:xfrm>
            <a:off x="1828800" y="4937760"/>
            <a:ext cx="10042855" cy="1234440"/>
          </a:xfrm>
          <a:prstGeom prst="roundRect">
            <a:avLst>
              <a:gd name="adj" fmla="val 5926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49" name="principle text"/>
          <p:cNvSpPr txBox="1"/>
          <p:nvPr/>
        </p:nvSpPr>
        <p:spPr>
          <a:xfrm>
            <a:off x="2057400" y="5029200"/>
            <a:ext cx="9585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5FB4"/>
                </a:solidFill>
              </a:rPr>
              <a:t>원칙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3F33"/>
                </a:solidFill>
              </a:rPr>
              <a:t>도면이 말하는 것은 도면에서 읽고 외워두지 않는다 · 도면이 말하지 않으면 사람에게 묻는다 · 검출에 LLM 을 쓰지 않는다 · 네 프로젝트(AL NOUF1 · TC2 · QFE · UAD-DXF) 회귀 기준선이 모든 변경을 지킨다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active"/>
          <p:cNvSpPr/>
          <p:nvPr/>
        </p:nvSpPr>
        <p:spPr>
          <a:xfrm>
            <a:off x="109728" y="1161288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7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첫 화면 — 대시보드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왼쪽 메뉴 · 프로젝트 카드 · 리비전 타임라인 · 업로드</a:t>
            </a:r>
            <a:endParaRPr lang="en-US" sz="1300" dirty="0"/>
          </a:p>
        </p:txBody>
      </p:sp>
      <p:sp>
        <p:nvSpPr>
          <p:cNvPr id="26" name="chip 홈"/>
          <p:cNvSpPr/>
          <p:nvPr/>
        </p:nvSpPr>
        <p:spPr>
          <a:xfrm>
            <a:off x="11487607" y="38404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홈"/>
          <p:cNvSpPr txBox="1"/>
          <p:nvPr/>
        </p:nvSpPr>
        <p:spPr>
          <a:xfrm>
            <a:off x="11487607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홈</a:t>
            </a:r>
            <a:endParaRPr lang="en-US" sz="1000" dirty="0"/>
          </a:p>
        </p:txBody>
      </p:sp>
      <p:sp>
        <p:nvSpPr>
          <p:cNvPr id="28" name="shot frame home"/>
          <p:cNvSpPr/>
          <p:nvPr/>
        </p:nvSpPr>
        <p:spPr>
          <a:xfrm>
            <a:off x="1828800" y="1463040"/>
            <a:ext cx="6492240" cy="3651885"/>
          </a:xfrm>
          <a:prstGeom prst="roundRect">
            <a:avLst>
              <a:gd name="adj" fmla="val 2003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29" name="shot home" descr="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848" y="1536192"/>
            <a:ext cx="6232144" cy="3505581"/>
          </a:xfrm>
          <a:prstGeom prst="rect">
            <a:avLst/>
          </a:prstGeom>
        </p:spPr>
      </p:pic>
      <p:sp>
        <p:nvSpPr>
          <p:cNvPr id="30" name="card 무엇이 보이나"/>
          <p:cNvSpPr/>
          <p:nvPr/>
        </p:nvSpPr>
        <p:spPr>
          <a:xfrm>
            <a:off x="8549640" y="1463040"/>
            <a:ext cx="3322015" cy="4754880"/>
          </a:xfrm>
          <a:prstGeom prst="roundRect">
            <a:avLst>
              <a:gd name="adj" fmla="val 2202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1" name="card title 무엇이 보이나"/>
          <p:cNvSpPr txBox="1"/>
          <p:nvPr/>
        </p:nvSpPr>
        <p:spPr>
          <a:xfrm>
            <a:off x="8732520" y="160020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무엇이 보이나</a:t>
            </a:r>
            <a:endParaRPr lang="en-US" sz="1400" dirty="0"/>
          </a:p>
        </p:txBody>
      </p:sp>
      <p:sp>
        <p:nvSpPr>
          <p:cNvPr id="32" name="card body 무엇이 보이나"/>
          <p:cNvSpPr txBox="1"/>
          <p:nvPr/>
        </p:nvSpPr>
        <p:spPr>
          <a:xfrm>
            <a:off x="8732520" y="1965960"/>
            <a:ext cx="295625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프로젝트 카드에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PDF 가 인쇄한 프로젝트 제목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· 최상위 Rev 와 날짜 · 양식에 나가는 계기 수량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리비전 타임라인 — 분석 상태 · 개정 판정 배지 · 행·장·수정 칸 · 누르면 결과 열림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업로드 카드에서 프로젝트와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입찰 / 실행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종류를 고르고 PDF·DXF 를 넣는다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그래프 셋 — 프로젝트별 · 리비전별 산출 행 · 개정 변경 도넛 (서버가 이미 내던 값만)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알림 알약 — 데이터 위생 · 실패 · 분석 중 · 개정 변경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active"/>
          <p:cNvSpPr/>
          <p:nvPr/>
        </p:nvSpPr>
        <p:spPr>
          <a:xfrm>
            <a:off x="109728" y="1161288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7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분석 진행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분석은 별도 프로세스에서 돌고, 화면은 어디서든 현황을 본다</a:t>
            </a:r>
            <a:endParaRPr lang="en-US" sz="1300" dirty="0"/>
          </a:p>
        </p:txBody>
      </p:sp>
      <p:sp>
        <p:nvSpPr>
          <p:cNvPr id="26" name="chip 분석 중"/>
          <p:cNvSpPr/>
          <p:nvPr/>
        </p:nvSpPr>
        <p:spPr>
          <a:xfrm>
            <a:off x="11213287" y="384048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분석 중"/>
          <p:cNvSpPr txBox="1"/>
          <p:nvPr/>
        </p:nvSpPr>
        <p:spPr>
          <a:xfrm>
            <a:off x="11213287" y="3840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분석 중</a:t>
            </a:r>
            <a:endParaRPr lang="en-US" sz="1000" dirty="0"/>
          </a:p>
        </p:txBody>
      </p:sp>
      <p:sp>
        <p:nvSpPr>
          <p:cNvPr id="28" name="shot frame running"/>
          <p:cNvSpPr/>
          <p:nvPr/>
        </p:nvSpPr>
        <p:spPr>
          <a:xfrm>
            <a:off x="1828800" y="1463040"/>
            <a:ext cx="4907128" cy="2760259"/>
          </a:xfrm>
          <a:prstGeom prst="roundRect">
            <a:avLst>
              <a:gd name="adj" fmla="val 2650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29" name="shot running" descr="run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848" y="1536192"/>
            <a:ext cx="4647032" cy="2613955"/>
          </a:xfrm>
          <a:prstGeom prst="rect">
            <a:avLst/>
          </a:prstGeom>
        </p:spPr>
      </p:pic>
      <p:sp>
        <p:nvSpPr>
          <p:cNvPr id="30" name="shot frame progress"/>
          <p:cNvSpPr/>
          <p:nvPr/>
        </p:nvSpPr>
        <p:spPr>
          <a:xfrm>
            <a:off x="6964528" y="1463040"/>
            <a:ext cx="4907128" cy="2760259"/>
          </a:xfrm>
          <a:prstGeom prst="roundRect">
            <a:avLst>
              <a:gd name="adj" fmla="val 2650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31" name="shot progress" descr="progre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576" y="1536192"/>
            <a:ext cx="4647032" cy="2613955"/>
          </a:xfrm>
          <a:prstGeom prst="rect">
            <a:avLst/>
          </a:prstGeom>
        </p:spPr>
      </p:pic>
      <p:sp>
        <p:nvSpPr>
          <p:cNvPr id="32" name="card 진행 현황"/>
          <p:cNvSpPr/>
          <p:nvPr/>
        </p:nvSpPr>
        <p:spPr>
          <a:xfrm>
            <a:off x="1828800" y="4451899"/>
            <a:ext cx="4907128" cy="1811741"/>
          </a:xfrm>
          <a:prstGeom prst="roundRect">
            <a:avLst>
              <a:gd name="adj" fmla="val 4038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3" name="card title 진행 현황"/>
          <p:cNvSpPr txBox="1"/>
          <p:nvPr/>
        </p:nvSpPr>
        <p:spPr>
          <a:xfrm>
            <a:off x="2011680" y="4589059"/>
            <a:ext cx="454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진행 현황</a:t>
            </a:r>
            <a:endParaRPr lang="en-US" sz="1400" dirty="0"/>
          </a:p>
        </p:txBody>
      </p:sp>
      <p:sp>
        <p:nvSpPr>
          <p:cNvPr id="34" name="card body 진행 현황"/>
          <p:cNvSpPr txBox="1"/>
          <p:nvPr/>
        </p:nvSpPr>
        <p:spPr>
          <a:xfrm>
            <a:off x="2011680" y="4954819"/>
            <a:ext cx="4541368" cy="117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최근 분석 이력 맨 위에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진행 막대 · % · 남은 시간 · 지금 단계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(도면 치수 재는 중 — 37/60쪽)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남은 시간은 이 서버에서 끝난 분석의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장당 시간 중앙값 × 장수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— 근거를 함께 적고, 없으면 '예상할 수 없음'</a:t>
            </a:r>
            <a:endParaRPr lang="en-US" sz="1150" dirty="0"/>
          </a:p>
        </p:txBody>
      </p:sp>
      <p:sp>
        <p:nvSpPr>
          <p:cNvPr id="35" name="card 안전하게"/>
          <p:cNvSpPr/>
          <p:nvPr/>
        </p:nvSpPr>
        <p:spPr>
          <a:xfrm>
            <a:off x="6964528" y="4451899"/>
            <a:ext cx="4907128" cy="1811741"/>
          </a:xfrm>
          <a:prstGeom prst="roundRect">
            <a:avLst>
              <a:gd name="adj" fmla="val 4038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6" name="card title 안전하게"/>
          <p:cNvSpPr txBox="1"/>
          <p:nvPr/>
        </p:nvSpPr>
        <p:spPr>
          <a:xfrm>
            <a:off x="7147408" y="4589059"/>
            <a:ext cx="454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안전하게</a:t>
            </a:r>
            <a:endParaRPr lang="en-US" sz="1400" dirty="0"/>
          </a:p>
        </p:txBody>
      </p:sp>
      <p:sp>
        <p:nvSpPr>
          <p:cNvPr id="37" name="card body 안전하게"/>
          <p:cNvSpPr txBox="1"/>
          <p:nvPr/>
        </p:nvSpPr>
        <p:spPr>
          <a:xfrm>
            <a:off x="7147408" y="4954819"/>
            <a:ext cx="4541368" cy="117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분석은 자식 프로세스 — 메모리 부족으로 죽어도 서버는 살고 그 분석만 실패로 적힌다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다른 메뉴로 갔다 와도 분석은 계속 · 취소는 즉시 · 실패하면 멈춘 단계와 사유를 말한다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7" name="menu active"/>
          <p:cNvSpPr/>
          <p:nvPr/>
        </p:nvSpPr>
        <p:spPr>
          <a:xfrm>
            <a:off x="109728" y="1545336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결과 화면 — 도면 오버레이와 목록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왼쪽 도면 위 판정 상자 · 오른쪽 엑셀식 목록 · 탭은 산출물 단위</a:t>
            </a:r>
            <a:endParaRPr lang="en-US" sz="1300" dirty="0"/>
          </a:p>
        </p:txBody>
      </p:sp>
      <p:sp>
        <p:nvSpPr>
          <p:cNvPr id="26" name="chip 93장"/>
          <p:cNvSpPr/>
          <p:nvPr/>
        </p:nvSpPr>
        <p:spPr>
          <a:xfrm>
            <a:off x="11304727" y="384048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93장"/>
          <p:cNvSpPr txBox="1"/>
          <p:nvPr/>
        </p:nvSpPr>
        <p:spPr>
          <a:xfrm>
            <a:off x="11304727" y="3840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93장</a:t>
            </a:r>
            <a:endParaRPr lang="en-US" sz="1000" dirty="0"/>
          </a:p>
        </p:txBody>
      </p:sp>
      <p:sp>
        <p:nvSpPr>
          <p:cNvPr id="28" name="chip 1,991행"/>
          <p:cNvSpPr/>
          <p:nvPr/>
        </p:nvSpPr>
        <p:spPr>
          <a:xfrm>
            <a:off x="10463479" y="384048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9" name="chip text 1,991행"/>
          <p:cNvSpPr txBox="1"/>
          <p:nvPr/>
        </p:nvSpPr>
        <p:spPr>
          <a:xfrm>
            <a:off x="10463479" y="38404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1,991행</a:t>
            </a:r>
            <a:endParaRPr lang="en-US" sz="1000" dirty="0"/>
          </a:p>
        </p:txBody>
      </p:sp>
      <p:sp>
        <p:nvSpPr>
          <p:cNvPr id="30" name="shot frame result"/>
          <p:cNvSpPr/>
          <p:nvPr/>
        </p:nvSpPr>
        <p:spPr>
          <a:xfrm>
            <a:off x="1828800" y="1463040"/>
            <a:ext cx="6492240" cy="3651885"/>
          </a:xfrm>
          <a:prstGeom prst="roundRect">
            <a:avLst>
              <a:gd name="adj" fmla="val 2003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31" name="shot result" descr="res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848" y="1536192"/>
            <a:ext cx="6232144" cy="3505581"/>
          </a:xfrm>
          <a:prstGeom prst="rect">
            <a:avLst/>
          </a:prstGeom>
        </p:spPr>
      </p:pic>
      <p:sp>
        <p:nvSpPr>
          <p:cNvPr id="32" name="card 화면 구성"/>
          <p:cNvSpPr/>
          <p:nvPr/>
        </p:nvSpPr>
        <p:spPr>
          <a:xfrm>
            <a:off x="8549640" y="1463040"/>
            <a:ext cx="3322015" cy="4754880"/>
          </a:xfrm>
          <a:prstGeom prst="roundRect">
            <a:avLst>
              <a:gd name="adj" fmla="val 2202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3" name="card title 화면 구성"/>
          <p:cNvSpPr txBox="1"/>
          <p:nvPr/>
        </p:nvSpPr>
        <p:spPr>
          <a:xfrm>
            <a:off x="8732520" y="160020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화면 구성</a:t>
            </a:r>
            <a:endParaRPr lang="en-US" sz="1400" dirty="0"/>
          </a:p>
        </p:txBody>
      </p:sp>
      <p:sp>
        <p:nvSpPr>
          <p:cNvPr id="34" name="card body 화면 구성"/>
          <p:cNvSpPr txBox="1"/>
          <p:nvPr/>
        </p:nvSpPr>
        <p:spPr>
          <a:xfrm>
            <a:off x="8732520" y="1965960"/>
            <a:ext cx="295625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상자 색 =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공급 주체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(SCT 파랑 · VENDOR 주황 · 판정 없음 보라) · 모서리 ● 는 검토 필요 ·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x N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은 Q'ty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탭 전체 · Field · BFV · MOV · Pneumatic — 발주처 양식 단위와 같다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머리줄 띠 — 범례 재사용 · 프로필 · 실행(1급+2급) 판정 · 저장됨 시각 · 수정 이력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목록 열 — PAGE · P&amp;ID NO. · 귀속 · 개정 · TYPE · TAG NO. · LINE NO. · LINE SIZE · Q'ty · SCOPE …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장 목록에 장마다 ＋추가 ≠수정 －삭제 수 · 범례 판은 끌 수 있다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7" name="menu active"/>
          <p:cNvSpPr/>
          <p:nvPr/>
        </p:nvSpPr>
        <p:spPr>
          <a:xfrm>
            <a:off x="109728" y="1545336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근거 패널 — 왜 그렇게 판정했나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행을 누르면 그 행의 판정 근거가 그대로 보인다</a:t>
            </a:r>
            <a:endParaRPr lang="en-US" sz="1300" dirty="0"/>
          </a:p>
        </p:txBody>
      </p:sp>
      <p:sp>
        <p:nvSpPr>
          <p:cNvPr id="26" name="chip 근거"/>
          <p:cNvSpPr/>
          <p:nvPr/>
        </p:nvSpPr>
        <p:spPr>
          <a:xfrm>
            <a:off x="11396167" y="384048"/>
            <a:ext cx="38404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근거"/>
          <p:cNvSpPr txBox="1"/>
          <p:nvPr/>
        </p:nvSpPr>
        <p:spPr>
          <a:xfrm>
            <a:off x="11396167" y="3840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근거</a:t>
            </a:r>
            <a:endParaRPr lang="en-US" sz="1000" dirty="0"/>
          </a:p>
        </p:txBody>
      </p:sp>
      <p:sp>
        <p:nvSpPr>
          <p:cNvPr id="28" name="shot frame evidence"/>
          <p:cNvSpPr/>
          <p:nvPr/>
        </p:nvSpPr>
        <p:spPr>
          <a:xfrm>
            <a:off x="1828800" y="1463040"/>
            <a:ext cx="6492240" cy="3651885"/>
          </a:xfrm>
          <a:prstGeom prst="roundRect">
            <a:avLst>
              <a:gd name="adj" fmla="val 2003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29" name="shot evidence" descr="evid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848" y="1536192"/>
            <a:ext cx="6232144" cy="3505581"/>
          </a:xfrm>
          <a:prstGeom prst="rect">
            <a:avLst/>
          </a:prstGeom>
        </p:spPr>
      </p:pic>
      <p:sp>
        <p:nvSpPr>
          <p:cNvPr id="30" name="card 패널이 말하는 것"/>
          <p:cNvSpPr/>
          <p:nvPr/>
        </p:nvSpPr>
        <p:spPr>
          <a:xfrm>
            <a:off x="8549640" y="1463040"/>
            <a:ext cx="3322015" cy="3651885"/>
          </a:xfrm>
          <a:prstGeom prst="roundRect">
            <a:avLst>
              <a:gd name="adj" fmla="val 2202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1" name="card title 패널이 말하는 것"/>
          <p:cNvSpPr txBox="1"/>
          <p:nvPr/>
        </p:nvSpPr>
        <p:spPr>
          <a:xfrm>
            <a:off x="8732520" y="160020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패널이 말하는 것</a:t>
            </a:r>
            <a:endParaRPr lang="en-US" sz="1400" dirty="0"/>
          </a:p>
        </p:txBody>
      </p:sp>
      <p:sp>
        <p:nvSpPr>
          <p:cNvPr id="32" name="card body 패널이 말하는 것"/>
          <p:cNvSpPr txBox="1"/>
          <p:nvPr/>
        </p:nvSpPr>
        <p:spPr>
          <a:xfrm>
            <a:off x="8732520" y="1965960"/>
            <a:ext cx="2956255" cy="301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3F33"/>
                </a:solidFill>
              </a:rPr>
              <a:t>공급 주체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— 별표·NOTES 정의줄·패키지 상자 중 무엇이 가렸나, 발주처 양식에 나가는가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3F33"/>
                </a:solidFill>
              </a:rPr>
              <a:t>수량 근거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— 1 symbol x 2 (NOTES: …) · 범례 승수표 · 사람 지정이면 누가·언제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3F33"/>
                </a:solidFill>
              </a:rPr>
              <a:t>Description · Line No.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— 어느 런을 탭했고 깃발을 어디서 읽었나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3F33"/>
                </a:solidFill>
              </a:rPr>
              <a:t>태그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— 지시선이 가리킨 밸브 · 태그 문법 교차 검증 · 개정 판정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사람이 고친 칸은 ✎ 와 이름 — 도면 근거는 옆에 그대로 남는다</a:t>
            </a:r>
            <a:endParaRPr lang="en-US" sz="1150" dirty="0"/>
          </a:p>
        </p:txBody>
      </p:sp>
      <p:sp>
        <p:nvSpPr>
          <p:cNvPr id="33" name="shot frame evcrop"/>
          <p:cNvSpPr/>
          <p:nvPr/>
        </p:nvSpPr>
        <p:spPr>
          <a:xfrm>
            <a:off x="1828800" y="5349240"/>
            <a:ext cx="6492240" cy="868680"/>
          </a:xfrm>
          <a:prstGeom prst="roundRect">
            <a:avLst>
              <a:gd name="adj" fmla="val 8421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34" name="shot evcrop" descr="evcr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575" y="5422392"/>
            <a:ext cx="6290691" cy="722376"/>
          </a:xfrm>
          <a:prstGeom prst="rect">
            <a:avLst/>
          </a:prstGeom>
        </p:spPr>
      </p:pic>
      <p:sp>
        <p:nvSpPr>
          <p:cNvPr id="35" name="evidence note"/>
          <p:cNvSpPr txBox="1"/>
          <p:nvPr/>
        </p:nvSpPr>
        <p:spPr>
          <a:xfrm>
            <a:off x="8549640" y="5349240"/>
            <a:ext cx="3322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F4F"/>
                </a:solidFill>
              </a:rPr>
              <a:t>검토 사유는 다섯 축(스코프 · 수량 · Description · 검출 · 입력 자료)으로 묶여 검토 탭에 집계된다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7" name="menu active"/>
          <p:cNvSpPr/>
          <p:nvPr/>
        </p:nvSpPr>
        <p:spPr>
          <a:xfrm>
            <a:off x="109728" y="1545336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목록 편집 — 엑셀처럼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칸을 골라 바로 치고, 범위를 잡고, 되돌린다</a:t>
            </a:r>
            <a:endParaRPr lang="en-US" sz="1300" dirty="0"/>
          </a:p>
        </p:txBody>
      </p:sp>
      <p:sp>
        <p:nvSpPr>
          <p:cNvPr id="26" name="chip Ctrl+F"/>
          <p:cNvSpPr/>
          <p:nvPr/>
        </p:nvSpPr>
        <p:spPr>
          <a:xfrm>
            <a:off x="11030407" y="384048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Ctrl+F"/>
          <p:cNvSpPr txBox="1"/>
          <p:nvPr/>
        </p:nvSpPr>
        <p:spPr>
          <a:xfrm>
            <a:off x="11030407" y="38404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Ctrl+F</a:t>
            </a:r>
            <a:endParaRPr lang="en-US" sz="1000" dirty="0"/>
          </a:p>
        </p:txBody>
      </p:sp>
      <p:sp>
        <p:nvSpPr>
          <p:cNvPr id="28" name="chip Shift+↑↓"/>
          <p:cNvSpPr/>
          <p:nvPr/>
        </p:nvSpPr>
        <p:spPr>
          <a:xfrm>
            <a:off x="10006279" y="384048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9" name="chip text Shift+↑↓"/>
          <p:cNvSpPr txBox="1"/>
          <p:nvPr/>
        </p:nvSpPr>
        <p:spPr>
          <a:xfrm>
            <a:off x="10006279" y="38404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Shift+↑↓</a:t>
            </a:r>
            <a:endParaRPr lang="en-US" sz="1000" dirty="0"/>
          </a:p>
        </p:txBody>
      </p:sp>
      <p:sp>
        <p:nvSpPr>
          <p:cNvPr id="30" name="chip Ctrl+Z"/>
          <p:cNvSpPr/>
          <p:nvPr/>
        </p:nvSpPr>
        <p:spPr>
          <a:xfrm>
            <a:off x="9165031" y="384048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31" name="chip text Ctrl+Z"/>
          <p:cNvSpPr txBox="1"/>
          <p:nvPr/>
        </p:nvSpPr>
        <p:spPr>
          <a:xfrm>
            <a:off x="9165031" y="38404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Ctrl+Z</a:t>
            </a:r>
            <a:endParaRPr lang="en-US" sz="1000" dirty="0"/>
          </a:p>
        </p:txBody>
      </p:sp>
      <p:sp>
        <p:nvSpPr>
          <p:cNvPr id="32" name="shot frame range"/>
          <p:cNvSpPr/>
          <p:nvPr/>
        </p:nvSpPr>
        <p:spPr>
          <a:xfrm>
            <a:off x="1828800" y="1463040"/>
            <a:ext cx="3460562" cy="3840480"/>
          </a:xfrm>
          <a:prstGeom prst="roundRect">
            <a:avLst>
              <a:gd name="adj" fmla="val 2114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33" name="shot range" descr="r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1544223"/>
            <a:ext cx="3314258" cy="3678114"/>
          </a:xfrm>
          <a:prstGeom prst="rect">
            <a:avLst/>
          </a:prstGeom>
        </p:spPr>
      </p:pic>
      <p:sp>
        <p:nvSpPr>
          <p:cNvPr id="34" name="shot frame celledit"/>
          <p:cNvSpPr/>
          <p:nvPr/>
        </p:nvSpPr>
        <p:spPr>
          <a:xfrm>
            <a:off x="5472242" y="1463040"/>
            <a:ext cx="3460562" cy="3840480"/>
          </a:xfrm>
          <a:prstGeom prst="roundRect">
            <a:avLst>
              <a:gd name="adj" fmla="val 2114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35" name="shot celledit" descr="celled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394" y="1544223"/>
            <a:ext cx="3314258" cy="3678114"/>
          </a:xfrm>
          <a:prstGeom prst="rect">
            <a:avLst/>
          </a:prstGeom>
        </p:spPr>
      </p:pic>
      <p:sp>
        <p:nvSpPr>
          <p:cNvPr id="36" name="card 동작"/>
          <p:cNvSpPr/>
          <p:nvPr/>
        </p:nvSpPr>
        <p:spPr>
          <a:xfrm>
            <a:off x="9161403" y="1463040"/>
            <a:ext cx="2710252" cy="3840480"/>
          </a:xfrm>
          <a:prstGeom prst="roundRect">
            <a:avLst>
              <a:gd name="adj" fmla="val 2699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7" name="card title 동작"/>
          <p:cNvSpPr txBox="1"/>
          <p:nvPr/>
        </p:nvSpPr>
        <p:spPr>
          <a:xfrm>
            <a:off x="9344283" y="1600200"/>
            <a:ext cx="23444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동작</a:t>
            </a:r>
            <a:endParaRPr lang="en-US" sz="1400" dirty="0"/>
          </a:p>
        </p:txBody>
      </p:sp>
      <p:sp>
        <p:nvSpPr>
          <p:cNvPr id="38" name="card body 동작"/>
          <p:cNvSpPr txBox="1"/>
          <p:nvPr/>
        </p:nvSpPr>
        <p:spPr>
          <a:xfrm>
            <a:off x="9344283" y="1965960"/>
            <a:ext cx="234449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3F33"/>
                </a:solidFill>
              </a:rPr>
              <a:t>한 번 누르면 칸이 골라지고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A3F33"/>
                </a:solidFill>
              </a:rPr>
              <a:t>두 번 누름 · F2 · 바로 타자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F33"/>
                </a:solidFill>
              </a:rPr>
              <a:t>로 편집이 열린다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3F33"/>
                </a:solidFill>
              </a:rPr>
              <a:t>Enter 저장 후 아래 · Tab 오른쪽 · Esc 되돌림 · 화살표로 칸 이동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4A3F33"/>
                </a:solidFill>
              </a:rPr>
              <a:t>Shift+↑↓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F33"/>
                </a:solidFill>
              </a:rPr>
              <a:t> 한 열 범위 · Ctrl+C/V · 여러 줄 붙이기는 위에서 한 줄씩 · Ctrl+Enter 범위 채우기 · Delete = 도면 값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4A3F33"/>
                </a:solidFill>
              </a:rPr>
              <a:t>Ctrl+Z / Ctrl+Y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F33"/>
                </a:solidFill>
              </a:rPr>
              <a:t> — 서버에 쓰는 길 넷 전부 되돌린다 (기록은 지우지 않고 한 줄 더 쌓임)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3F33"/>
                </a:solidFill>
              </a:rPr>
              <a:t>저장 상태 칩 — 저장 중 · 저장됨 시각 · 실패하면 붉게</a:t>
            </a:r>
            <a:endParaRPr lang="en-US" sz="1100" dirty="0"/>
          </a:p>
        </p:txBody>
      </p:sp>
      <p:sp>
        <p:nvSpPr>
          <p:cNvPr id="39" name="shot frame savestate"/>
          <p:cNvSpPr/>
          <p:nvPr/>
        </p:nvSpPr>
        <p:spPr>
          <a:xfrm>
            <a:off x="1828800" y="548640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40" name="shot savestate" descr="savest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5602339"/>
            <a:ext cx="4882896" cy="453921"/>
          </a:xfrm>
          <a:prstGeom prst="rect">
            <a:avLst/>
          </a:prstGeom>
        </p:spPr>
      </p:pic>
      <p:sp>
        <p:nvSpPr>
          <p:cNvPr id="41" name="edit note"/>
          <p:cNvSpPr txBox="1"/>
          <p:nvPr/>
        </p:nvSpPr>
        <p:spPr>
          <a:xfrm>
            <a:off x="7040880" y="5486400"/>
            <a:ext cx="4830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F4F"/>
                </a:solidFill>
              </a:rPr>
              <a:t>고친 값은 사람 값(✎)으로 남고 엔진 값은 그대로 — 다음 리비전에 안정 ID 로 승계된다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7" name="menu active"/>
          <p:cNvSpPr/>
          <p:nvPr/>
        </p:nvSpPr>
        <p:spPr>
          <a:xfrm>
            <a:off x="109728" y="1545336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도면에서 바로 고치기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상자를 누르면 공급 주체, 라벨을 누르면 수량</a:t>
            </a:r>
            <a:endParaRPr lang="en-US" sz="1300" dirty="0"/>
          </a:p>
        </p:txBody>
      </p:sp>
      <p:sp>
        <p:nvSpPr>
          <p:cNvPr id="26" name="chip x N"/>
          <p:cNvSpPr/>
          <p:nvPr/>
        </p:nvSpPr>
        <p:spPr>
          <a:xfrm>
            <a:off x="11304727" y="384048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x N"/>
          <p:cNvSpPr txBox="1"/>
          <p:nvPr/>
        </p:nvSpPr>
        <p:spPr>
          <a:xfrm>
            <a:off x="11304727" y="3840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x N</a:t>
            </a:r>
            <a:endParaRPr lang="en-US" sz="1000" dirty="0"/>
          </a:p>
        </p:txBody>
      </p:sp>
      <p:sp>
        <p:nvSpPr>
          <p:cNvPr id="28" name="chip SCOPE"/>
          <p:cNvSpPr/>
          <p:nvPr/>
        </p:nvSpPr>
        <p:spPr>
          <a:xfrm>
            <a:off x="10554919" y="38404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9" name="chip text SCOPE"/>
          <p:cNvSpPr txBox="1"/>
          <p:nvPr/>
        </p:nvSpPr>
        <p:spPr>
          <a:xfrm>
            <a:off x="10554919" y="38404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SCOPE</a:t>
            </a:r>
            <a:endParaRPr lang="en-US" sz="1000" dirty="0"/>
          </a:p>
        </p:txBody>
      </p:sp>
      <p:sp>
        <p:nvSpPr>
          <p:cNvPr id="30" name="shot frame scopepop"/>
          <p:cNvSpPr/>
          <p:nvPr/>
        </p:nvSpPr>
        <p:spPr>
          <a:xfrm>
            <a:off x="1828800" y="1463040"/>
            <a:ext cx="3383280" cy="2047775"/>
          </a:xfrm>
          <a:prstGeom prst="roundRect">
            <a:avLst>
              <a:gd name="adj" fmla="val 3572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31" name="shot scopepop" descr="scopep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9660" y="1536192"/>
            <a:ext cx="3141560" cy="1901471"/>
          </a:xfrm>
          <a:prstGeom prst="rect">
            <a:avLst/>
          </a:prstGeom>
        </p:spPr>
      </p:pic>
      <p:sp>
        <p:nvSpPr>
          <p:cNvPr id="32" name="shot frame qty"/>
          <p:cNvSpPr/>
          <p:nvPr/>
        </p:nvSpPr>
        <p:spPr>
          <a:xfrm>
            <a:off x="5394960" y="1463040"/>
            <a:ext cx="3383280" cy="3310434"/>
          </a:xfrm>
          <a:prstGeom prst="roundRect">
            <a:avLst>
              <a:gd name="adj" fmla="val 2210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33" name="shot qty" descr="q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722" y="1536192"/>
            <a:ext cx="3233757" cy="3164130"/>
          </a:xfrm>
          <a:prstGeom prst="rect">
            <a:avLst/>
          </a:prstGeom>
        </p:spPr>
      </p:pic>
      <p:sp>
        <p:nvSpPr>
          <p:cNvPr id="34" name="cap scopepop"/>
          <p:cNvSpPr txBox="1"/>
          <p:nvPr/>
        </p:nvSpPr>
        <p:spPr>
          <a:xfrm>
            <a:off x="1828800" y="360225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4F"/>
                </a:solidFill>
              </a:rPr>
              <a:t>상자를 누르면 뜨는 공급 주체 판</a:t>
            </a:r>
            <a:endParaRPr lang="en-US" sz="1050" dirty="0"/>
          </a:p>
        </p:txBody>
      </p:sp>
      <p:sp>
        <p:nvSpPr>
          <p:cNvPr id="35" name="card 동작"/>
          <p:cNvSpPr/>
          <p:nvPr/>
        </p:nvSpPr>
        <p:spPr>
          <a:xfrm>
            <a:off x="9006840" y="1463040"/>
            <a:ext cx="2864815" cy="3310434"/>
          </a:xfrm>
          <a:prstGeom prst="roundRect">
            <a:avLst>
              <a:gd name="adj" fmla="val 2553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6" name="card title 동작"/>
          <p:cNvSpPr txBox="1"/>
          <p:nvPr/>
        </p:nvSpPr>
        <p:spPr>
          <a:xfrm>
            <a:off x="9189720" y="160020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동작</a:t>
            </a:r>
            <a:endParaRPr lang="en-US" sz="1400" dirty="0"/>
          </a:p>
        </p:txBody>
      </p:sp>
      <p:sp>
        <p:nvSpPr>
          <p:cNvPr id="37" name="card body 동작"/>
          <p:cNvSpPr txBox="1"/>
          <p:nvPr/>
        </p:nvSpPr>
        <p:spPr>
          <a:xfrm>
            <a:off x="9189720" y="1965960"/>
            <a:ext cx="2499055" cy="2670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3F33"/>
                </a:solidFill>
              </a:rPr>
              <a:t>상자 →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A3F33"/>
                </a:solidFill>
              </a:rPr>
              <a:t>SCT 공급 · VENDOR(이 도면에서 읽은 공급자 이름) · 둘 다 아님(식별 지우기)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3F33"/>
                </a:solidFill>
              </a:rPr>
              <a:t>지운 상자는 붉은 ✕ · 목록 취소선 · Excel 에서 빠짐 · 다시 누르면 되돌리기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4A3F33"/>
                </a:solidFill>
              </a:rPr>
              <a:t>x N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F33"/>
                </a:solidFill>
              </a:rPr>
              <a:t> 라벨 → 이 태그만 · 이 페이지 전체 · Shift 범위 — 저장은 한 곳, 목록·라벨이 같은 값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3F33"/>
                </a:solidFill>
              </a:rPr>
              <a:t>Shift 끌기로 띠 선택 → 묶음 판에서 공급 주체·승수 일괄 변경 (요청 하나)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3F33"/>
                </a:solidFill>
              </a:rPr>
              <a:t>작성자는 대시보드 로그인 이름으로 자동 기록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7" name="menu active"/>
          <p:cNvSpPr/>
          <p:nvPr/>
        </p:nvSpPr>
        <p:spPr>
          <a:xfrm>
            <a:off x="109728" y="1545336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도면 전체화면에서도 편집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⛶ 전체화면 · 도면 위 편집 카드 · 목록에 저절로 반영</a:t>
            </a:r>
            <a:endParaRPr lang="en-US" sz="1300" dirty="0"/>
          </a:p>
        </p:txBody>
      </p:sp>
      <p:sp>
        <p:nvSpPr>
          <p:cNvPr id="26" name="chip ⛶"/>
          <p:cNvSpPr/>
          <p:nvPr/>
        </p:nvSpPr>
        <p:spPr>
          <a:xfrm>
            <a:off x="11487607" y="38404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⛶"/>
          <p:cNvSpPr txBox="1"/>
          <p:nvPr/>
        </p:nvSpPr>
        <p:spPr>
          <a:xfrm>
            <a:off x="11487607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⛶</a:t>
            </a:r>
            <a:endParaRPr lang="en-US" sz="1000" dirty="0"/>
          </a:p>
        </p:txBody>
      </p:sp>
      <p:sp>
        <p:nvSpPr>
          <p:cNvPr id="28" name="shot frame full"/>
          <p:cNvSpPr/>
          <p:nvPr/>
        </p:nvSpPr>
        <p:spPr>
          <a:xfrm>
            <a:off x="1828800" y="1463040"/>
            <a:ext cx="6492240" cy="3651885"/>
          </a:xfrm>
          <a:prstGeom prst="roundRect">
            <a:avLst>
              <a:gd name="adj" fmla="val 2003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29" name="shot full" descr="fu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848" y="1536192"/>
            <a:ext cx="6232144" cy="3505581"/>
          </a:xfrm>
          <a:prstGeom prst="rect">
            <a:avLst/>
          </a:prstGeom>
        </p:spPr>
      </p:pic>
      <p:sp>
        <p:nvSpPr>
          <p:cNvPr id="30" name="card 동작"/>
          <p:cNvSpPr/>
          <p:nvPr/>
        </p:nvSpPr>
        <p:spPr>
          <a:xfrm>
            <a:off x="8549640" y="1463040"/>
            <a:ext cx="3322015" cy="4754880"/>
          </a:xfrm>
          <a:prstGeom prst="roundRect">
            <a:avLst>
              <a:gd name="adj" fmla="val 2202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1" name="card title 동작"/>
          <p:cNvSpPr txBox="1"/>
          <p:nvPr/>
        </p:nvSpPr>
        <p:spPr>
          <a:xfrm>
            <a:off x="8732520" y="160020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동작</a:t>
            </a:r>
            <a:endParaRPr lang="en-US" sz="1400" dirty="0"/>
          </a:p>
        </p:txBody>
      </p:sp>
      <p:sp>
        <p:nvSpPr>
          <p:cNvPr id="32" name="card body 동작"/>
          <p:cNvSpPr txBox="1"/>
          <p:nvPr/>
        </p:nvSpPr>
        <p:spPr>
          <a:xfrm>
            <a:off x="8732520" y="1965960"/>
            <a:ext cx="295625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⛶ 를 누르면 도면 창이 화면 전체 — 대시보드 iframe 안이면 화면 안 전체화면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상자를 누르면 오른쪽 위에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편집 카드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(목록 머리글과 같은 칸 · Enter 저장 · ◀ ▶ 다음 항목)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저장 길은 목록 칸과 같은 하나 — 어디서 고쳤든 목록이 같은 값으로 선다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목록을 끝까지 접어 안 보일 때도 같은 카드가 뜬다 · Esc 는 선택 풀기 → 전체화면 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7" name="menu active"/>
          <p:cNvSpPr/>
          <p:nvPr/>
        </p:nvSpPr>
        <p:spPr>
          <a:xfrm>
            <a:off x="109728" y="1545336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수량 승수 판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여러 장을 골라 장마다 승수를 적으면 Q'ty 가 바로 바뀐다</a:t>
            </a:r>
            <a:endParaRPr lang="en-US" sz="1300" dirty="0"/>
          </a:p>
        </p:txBody>
      </p:sp>
      <p:sp>
        <p:nvSpPr>
          <p:cNvPr id="26" name="chip Q'ty"/>
          <p:cNvSpPr/>
          <p:nvPr/>
        </p:nvSpPr>
        <p:spPr>
          <a:xfrm>
            <a:off x="11213287" y="384048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Q&amp;apos;ty"/>
          <p:cNvSpPr txBox="1"/>
          <p:nvPr/>
        </p:nvSpPr>
        <p:spPr>
          <a:xfrm>
            <a:off x="11213287" y="3840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Q'ty</a:t>
            </a:r>
            <a:endParaRPr lang="en-US" sz="1000" dirty="0"/>
          </a:p>
        </p:txBody>
      </p:sp>
      <p:sp>
        <p:nvSpPr>
          <p:cNvPr id="28" name="shot frame mult"/>
          <p:cNvSpPr/>
          <p:nvPr/>
        </p:nvSpPr>
        <p:spPr>
          <a:xfrm>
            <a:off x="1828800" y="1463040"/>
            <a:ext cx="10042855" cy="2188511"/>
          </a:xfrm>
          <a:prstGeom prst="roundRect">
            <a:avLst>
              <a:gd name="adj" fmla="val 3343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29" name="shot mult" descr="m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1551067"/>
            <a:ext cx="9896551" cy="2012457"/>
          </a:xfrm>
          <a:prstGeom prst="rect">
            <a:avLst/>
          </a:prstGeom>
        </p:spPr>
      </p:pic>
      <p:sp>
        <p:nvSpPr>
          <p:cNvPr id="30" name="card 페이지별 승수 (지금 결과)"/>
          <p:cNvSpPr/>
          <p:nvPr/>
        </p:nvSpPr>
        <p:spPr>
          <a:xfrm>
            <a:off x="1828800" y="3916727"/>
            <a:ext cx="4907128" cy="2346913"/>
          </a:xfrm>
          <a:prstGeom prst="roundRect">
            <a:avLst>
              <a:gd name="adj" fmla="val 3117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1" name="card title 페이지별 승수 (지금 결과)"/>
          <p:cNvSpPr txBox="1"/>
          <p:nvPr/>
        </p:nvSpPr>
        <p:spPr>
          <a:xfrm>
            <a:off x="2011680" y="4053887"/>
            <a:ext cx="454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페이지별 승수 (지금 결과)</a:t>
            </a:r>
            <a:endParaRPr lang="en-US" sz="1400" dirty="0"/>
          </a:p>
        </p:txBody>
      </p:sp>
      <p:sp>
        <p:nvSpPr>
          <p:cNvPr id="32" name="card body 페이지별 승수 (지금 결과)"/>
          <p:cNvSpPr txBox="1"/>
          <p:nvPr/>
        </p:nvSpPr>
        <p:spPr>
          <a:xfrm>
            <a:off x="2011680" y="4419647"/>
            <a:ext cx="4541368" cy="1706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행이 있는 장마다 한 줄 — 도면번호 · 행 수 ·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지금 xN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· 승수 칸 · Q'ty 전→후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칸에 적으면 저절로 골라지고 Shift 로 사이 장까지 · '선택한 장에 같은 승수'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새 Q'ty = 기본 개수 × 승수 — 사람이 고친 Q'ty(✎)로 저장 · 다음 Rev 에 승계</a:t>
            </a:r>
            <a:endParaRPr lang="en-US" sz="1150" dirty="0"/>
          </a:p>
        </p:txBody>
      </p:sp>
      <p:sp>
        <p:nvSpPr>
          <p:cNvPr id="33" name="card 유닛코드 승수 (다음 분석부터)"/>
          <p:cNvSpPr/>
          <p:nvPr/>
        </p:nvSpPr>
        <p:spPr>
          <a:xfrm>
            <a:off x="6964528" y="3916727"/>
            <a:ext cx="4907128" cy="2346913"/>
          </a:xfrm>
          <a:prstGeom prst="roundRect">
            <a:avLst>
              <a:gd name="adj" fmla="val 3117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4" name="card title 유닛코드 승수 (다음 분석부터)"/>
          <p:cNvSpPr txBox="1"/>
          <p:nvPr/>
        </p:nvSpPr>
        <p:spPr>
          <a:xfrm>
            <a:off x="7147408" y="4053887"/>
            <a:ext cx="454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유닛코드 승수 (다음 분석부터)</a:t>
            </a:r>
            <a:endParaRPr lang="en-US" sz="1400" dirty="0"/>
          </a:p>
        </p:txBody>
      </p:sp>
      <p:sp>
        <p:nvSpPr>
          <p:cNvPr id="35" name="card body 유닛코드 승수 (다음 분석부터)"/>
          <p:cNvSpPr txBox="1"/>
          <p:nvPr/>
        </p:nvSpPr>
        <p:spPr>
          <a:xfrm>
            <a:off x="7147408" y="4419647"/>
            <a:ext cx="4541368" cy="1706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범례 승수표가 없는 문서는 유닛코드로 묶어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세 번의 답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으로 수백 행을 덮는다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읽는 순서 — 범례 → 그 장 NOTES → 사람 → 설정 폴백 → 빈칸 · 사람은 도면을 이기지 않는다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지정한 값은 다음 분석부터 적용 — 판에 상주하는 줄이 그렇게 말한다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7" name="menu active"/>
          <p:cNvSpPr/>
          <p:nvPr/>
        </p:nvSpPr>
        <p:spPr>
          <a:xfrm>
            <a:off x="109728" y="1545336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마크업 — 누락 행 추가 · 오검출 표시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사각형을 그리면 도면을 먼저 읽어 값을 제안한다</a:t>
            </a:r>
            <a:endParaRPr lang="en-US" sz="1300" dirty="0"/>
          </a:p>
        </p:txBody>
      </p:sp>
      <p:sp>
        <p:nvSpPr>
          <p:cNvPr id="26" name="chip ✕"/>
          <p:cNvSpPr/>
          <p:nvPr/>
        </p:nvSpPr>
        <p:spPr>
          <a:xfrm>
            <a:off x="11487607" y="38404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✕"/>
          <p:cNvSpPr txBox="1"/>
          <p:nvPr/>
        </p:nvSpPr>
        <p:spPr>
          <a:xfrm>
            <a:off x="11487607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✕</a:t>
            </a:r>
            <a:endParaRPr lang="en-US" sz="1000" dirty="0"/>
          </a:p>
        </p:txBody>
      </p:sp>
      <p:sp>
        <p:nvSpPr>
          <p:cNvPr id="28" name="chip ＋행"/>
          <p:cNvSpPr/>
          <p:nvPr/>
        </p:nvSpPr>
        <p:spPr>
          <a:xfrm>
            <a:off x="11012119" y="384048"/>
            <a:ext cx="38404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9" name="chip text ＋행"/>
          <p:cNvSpPr txBox="1"/>
          <p:nvPr/>
        </p:nvSpPr>
        <p:spPr>
          <a:xfrm>
            <a:off x="11012119" y="3840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＋행</a:t>
            </a:r>
            <a:endParaRPr lang="en-US" sz="1000" dirty="0"/>
          </a:p>
        </p:txBody>
      </p:sp>
      <p:sp>
        <p:nvSpPr>
          <p:cNvPr id="30" name="shot frame markup"/>
          <p:cNvSpPr/>
          <p:nvPr/>
        </p:nvSpPr>
        <p:spPr>
          <a:xfrm>
            <a:off x="1828800" y="1463040"/>
            <a:ext cx="6492240" cy="3651885"/>
          </a:xfrm>
          <a:prstGeom prst="roundRect">
            <a:avLst>
              <a:gd name="adj" fmla="val 2003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31" name="shot markup" descr="mar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848" y="1536192"/>
            <a:ext cx="6232144" cy="3505581"/>
          </a:xfrm>
          <a:prstGeom prst="rect">
            <a:avLst/>
          </a:prstGeom>
        </p:spPr>
      </p:pic>
      <p:sp>
        <p:nvSpPr>
          <p:cNvPr id="32" name="card 동작"/>
          <p:cNvSpPr/>
          <p:nvPr/>
        </p:nvSpPr>
        <p:spPr>
          <a:xfrm>
            <a:off x="8549640" y="1463040"/>
            <a:ext cx="3322015" cy="4754880"/>
          </a:xfrm>
          <a:prstGeom prst="roundRect">
            <a:avLst>
              <a:gd name="adj" fmla="val 2202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3" name="card title 동작"/>
          <p:cNvSpPr txBox="1"/>
          <p:nvPr/>
        </p:nvSpPr>
        <p:spPr>
          <a:xfrm>
            <a:off x="8732520" y="160020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동작</a:t>
            </a:r>
            <a:endParaRPr lang="en-US" sz="1400" dirty="0"/>
          </a:p>
        </p:txBody>
      </p:sp>
      <p:sp>
        <p:nvSpPr>
          <p:cNvPr id="34" name="card body 동작"/>
          <p:cNvSpPr txBox="1"/>
          <p:nvPr/>
        </p:nvSpPr>
        <p:spPr>
          <a:xfrm>
            <a:off x="8732520" y="1965960"/>
            <a:ext cx="295625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마크업 모드에서 사각형을 끌면 그 자리의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별표 · NOTES · 같은 장 수량 · TYPE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을 읽어 제안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제안을 그대로 두면 출처 DRAWING, 바꾸거나 채우면 USER — 근거 패널이 그대로 말한다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추가 행은 녹색 음영 · 안정 ID 는 같은 장부에서 · 다음 리비전에 엔진이 그 자리를 찾으면 잇는다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기존 상자 ✕ — 오검출 · 값 틀림 · 미지정 심볼 분류 + 사유 · 행은 지우지 않고 표시만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'개발팀에 VOC 로 신고' 가 기본 켜짐 — 사유를 적어야 저장된다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7" name="menu active"/>
          <p:cNvSpPr/>
          <p:nvPr/>
        </p:nvSpPr>
        <p:spPr>
          <a:xfrm>
            <a:off x="109728" y="1545336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개정 대조 — 나란히 보기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왼쪽 최신 Rev.B · 오른쪽 직전 Rev.A · 태그로만 대조</a:t>
            </a:r>
            <a:endParaRPr lang="en-US" sz="1300" dirty="0"/>
          </a:p>
        </p:txBody>
      </p:sp>
      <p:sp>
        <p:nvSpPr>
          <p:cNvPr id="26" name="chip DEL?"/>
          <p:cNvSpPr/>
          <p:nvPr/>
        </p:nvSpPr>
        <p:spPr>
          <a:xfrm>
            <a:off x="11213287" y="384048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DEL?"/>
          <p:cNvSpPr txBox="1"/>
          <p:nvPr/>
        </p:nvSpPr>
        <p:spPr>
          <a:xfrm>
            <a:off x="11213287" y="3840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DEL?</a:t>
            </a:r>
            <a:endParaRPr lang="en-US" sz="1000" dirty="0"/>
          </a:p>
        </p:txBody>
      </p:sp>
      <p:sp>
        <p:nvSpPr>
          <p:cNvPr id="28" name="chip MOD"/>
          <p:cNvSpPr/>
          <p:nvPr/>
        </p:nvSpPr>
        <p:spPr>
          <a:xfrm>
            <a:off x="10646359" y="384048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9" name="chip text MOD"/>
          <p:cNvSpPr txBox="1"/>
          <p:nvPr/>
        </p:nvSpPr>
        <p:spPr>
          <a:xfrm>
            <a:off x="10646359" y="3840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MOD</a:t>
            </a:r>
            <a:endParaRPr lang="en-US" sz="1000" dirty="0"/>
          </a:p>
        </p:txBody>
      </p:sp>
      <p:sp>
        <p:nvSpPr>
          <p:cNvPr id="30" name="chip ADD"/>
          <p:cNvSpPr/>
          <p:nvPr/>
        </p:nvSpPr>
        <p:spPr>
          <a:xfrm>
            <a:off x="10079431" y="384048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31" name="chip text ADD"/>
          <p:cNvSpPr txBox="1"/>
          <p:nvPr/>
        </p:nvSpPr>
        <p:spPr>
          <a:xfrm>
            <a:off x="10079431" y="3840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ADD</a:t>
            </a:r>
            <a:endParaRPr lang="en-US" sz="1000" dirty="0"/>
          </a:p>
        </p:txBody>
      </p:sp>
      <p:sp>
        <p:nvSpPr>
          <p:cNvPr id="32" name="shot frame side"/>
          <p:cNvSpPr/>
          <p:nvPr/>
        </p:nvSpPr>
        <p:spPr>
          <a:xfrm>
            <a:off x="1828800" y="1463040"/>
            <a:ext cx="6492240" cy="3651885"/>
          </a:xfrm>
          <a:prstGeom prst="roundRect">
            <a:avLst>
              <a:gd name="adj" fmla="val 2003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33" name="shot side" descr="s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848" y="1536192"/>
            <a:ext cx="6232144" cy="3505581"/>
          </a:xfrm>
          <a:prstGeom prst="rect">
            <a:avLst/>
          </a:prstGeom>
        </p:spPr>
      </p:pic>
      <p:sp>
        <p:nvSpPr>
          <p:cNvPr id="34" name="card 동작"/>
          <p:cNvSpPr/>
          <p:nvPr/>
        </p:nvSpPr>
        <p:spPr>
          <a:xfrm>
            <a:off x="8549640" y="1463040"/>
            <a:ext cx="3322015" cy="4754880"/>
          </a:xfrm>
          <a:prstGeom prst="roundRect">
            <a:avLst>
              <a:gd name="adj" fmla="val 2202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5" name="card title 동작"/>
          <p:cNvSpPr txBox="1"/>
          <p:nvPr/>
        </p:nvSpPr>
        <p:spPr>
          <a:xfrm>
            <a:off x="8732520" y="160020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동작</a:t>
            </a:r>
            <a:endParaRPr lang="en-US" sz="1400" dirty="0"/>
          </a:p>
        </p:txBody>
      </p:sp>
      <p:sp>
        <p:nvSpPr>
          <p:cNvPr id="36" name="card body 동작"/>
          <p:cNvSpPr txBox="1"/>
          <p:nvPr/>
        </p:nvSpPr>
        <p:spPr>
          <a:xfrm>
            <a:off x="8732520" y="1965960"/>
            <a:ext cx="295625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실행 프로젝트는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(TYPE, 태그)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로 짝을 짓는다 — 위치 좌표로는 비교하지 않는다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같은 도면에 새 태그와 사라진 태그가 함께 남으면 전부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수정(MOD)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· 한쪽만이면 추가 / 삭제 후보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도면번호가 바뀐 장은 공유 태그로 알아보고 옛 번호 장을 오른쪽에 띄운다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오른쪽 도면 아래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이 장 변경 목록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· ◀ ▶ 로 두 창이 그 자리로 · 확대·스크롤이 함께 움직인다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'대조 다시' — 재분석 없이 새 규칙으로 다시 대조 · 변경 내역 Excel 로 내보내기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7" name="menu active"/>
          <p:cNvSpPr/>
          <p:nvPr/>
        </p:nvSpPr>
        <p:spPr>
          <a:xfrm>
            <a:off x="109728" y="1545336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장별 메모 · 핀 메모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도면번호를 열쇠로 같은 프로젝트의 모든 Rev 에서 보인다</a:t>
            </a:r>
            <a:endParaRPr lang="en-US" sz="1300" dirty="0"/>
          </a:p>
        </p:txBody>
      </p:sp>
      <p:sp>
        <p:nvSpPr>
          <p:cNvPr id="26" name="chip 📌"/>
          <p:cNvSpPr/>
          <p:nvPr/>
        </p:nvSpPr>
        <p:spPr>
          <a:xfrm>
            <a:off x="11396167" y="384048"/>
            <a:ext cx="38404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📌"/>
          <p:cNvSpPr txBox="1"/>
          <p:nvPr/>
        </p:nvSpPr>
        <p:spPr>
          <a:xfrm>
            <a:off x="11396167" y="3840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📌</a:t>
            </a:r>
            <a:endParaRPr lang="en-US" sz="1000" dirty="0"/>
          </a:p>
        </p:txBody>
      </p:sp>
      <p:sp>
        <p:nvSpPr>
          <p:cNvPr id="28" name="shot frame pin"/>
          <p:cNvSpPr/>
          <p:nvPr/>
        </p:nvSpPr>
        <p:spPr>
          <a:xfrm>
            <a:off x="1828800" y="1463040"/>
            <a:ext cx="6035040" cy="3394710"/>
          </a:xfrm>
          <a:prstGeom prst="roundRect">
            <a:avLst>
              <a:gd name="adj" fmla="val 2155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29" name="shot pin" descr="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848" y="1536192"/>
            <a:ext cx="5774944" cy="3248406"/>
          </a:xfrm>
          <a:prstGeom prst="rect">
            <a:avLst/>
          </a:prstGeom>
        </p:spPr>
      </p:pic>
      <p:sp>
        <p:nvSpPr>
          <p:cNvPr id="30" name="card 동작"/>
          <p:cNvSpPr/>
          <p:nvPr/>
        </p:nvSpPr>
        <p:spPr>
          <a:xfrm>
            <a:off x="8092440" y="1463040"/>
            <a:ext cx="3779215" cy="3394710"/>
          </a:xfrm>
          <a:prstGeom prst="roundRect">
            <a:avLst>
              <a:gd name="adj" fmla="val 2155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1" name="card title 동작"/>
          <p:cNvSpPr txBox="1"/>
          <p:nvPr/>
        </p:nvSpPr>
        <p:spPr>
          <a:xfrm>
            <a:off x="8275320" y="160020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동작</a:t>
            </a:r>
            <a:endParaRPr lang="en-US" sz="1400" dirty="0"/>
          </a:p>
        </p:txBody>
      </p:sp>
      <p:sp>
        <p:nvSpPr>
          <p:cNvPr id="32" name="card body 동작"/>
          <p:cNvSpPr txBox="1"/>
          <p:nvPr/>
        </p:nvSpPr>
        <p:spPr>
          <a:xfrm>
            <a:off x="8275320" y="1965960"/>
            <a:ext cx="3413455" cy="275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3F33"/>
                </a:solidFill>
              </a:rPr>
              <a:t>도면 아래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A3F33"/>
                </a:solidFill>
              </a:rPr>
              <a:t>장별 메모장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F33"/>
                </a:solidFill>
              </a:rPr>
              <a:t> — 저장 한 번이 판 하나, 지우지 않고 쌓인다 · 다른 Rev 에서 쓴 판은 표식과 함께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4A3F33"/>
                </a:solidFill>
              </a:rPr>
              <a:t>📌 핀 메모 달기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F33"/>
                </a:solidFill>
              </a:rPr>
              <a:t> → 도면을 누르면 압정이 꽂히고 작성칸에 날짜·작성자(로그인)가 자동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3F33"/>
                </a:solidFill>
              </a:rPr>
              <a:t>메모장의 메모를 누르면 도면이 그 자리로 가서 압정이 두 번 깜박임 · 압정을 누르면 메모장이 그 메모로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3F33"/>
                </a:solidFill>
              </a:rPr>
              <a:t>완료 · 숨김은 표시뿐 — 고친 글은 이력으로 남는다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3F33"/>
                </a:solidFill>
              </a:rPr>
              <a:t>도면번호가 바뀐 장도 옛 번호의 메모를 함께 보인다</a:t>
            </a:r>
            <a:endParaRPr lang="en-US" sz="1100" dirty="0"/>
          </a:p>
        </p:txBody>
      </p:sp>
      <p:sp>
        <p:nvSpPr>
          <p:cNvPr id="33" name="shot frame memo"/>
          <p:cNvSpPr/>
          <p:nvPr/>
        </p:nvSpPr>
        <p:spPr>
          <a:xfrm>
            <a:off x="1828800" y="507492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34" name="shot memo" descr="mem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659" y="5148072"/>
            <a:ext cx="3631082" cy="1042416"/>
          </a:xfrm>
          <a:prstGeom prst="rect">
            <a:avLst/>
          </a:prstGeom>
        </p:spPr>
      </p:pic>
      <p:sp>
        <p:nvSpPr>
          <p:cNvPr id="35" name="memo note"/>
          <p:cNvSpPr txBox="1"/>
          <p:nvPr/>
        </p:nvSpPr>
        <p:spPr>
          <a:xfrm>
            <a:off x="6126480" y="5074920"/>
            <a:ext cx="5745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F4F"/>
                </a:solidFill>
              </a:rPr>
              <a:t>장별 메모장 — 지금 메모 · 이력 판 · '다른 Rev 에서' 표식. 저장은 프로젝트 폴더의 sheet_notes.json 한 곳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7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8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9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0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1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2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3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4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5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6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menu active"/>
          <p:cNvSpPr/>
          <p:nvPr/>
        </p:nvSpPr>
        <p:spPr>
          <a:xfrm>
            <a:off x="109728" y="3465576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검토 탭 — 사유별로 묶어 처리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검토 축 다섯 · 필터 · 검색 · 개정 필터</a:t>
            </a:r>
            <a:endParaRPr lang="en-US" sz="1300" dirty="0"/>
          </a:p>
        </p:txBody>
      </p:sp>
      <p:sp>
        <p:nvSpPr>
          <p:cNvPr id="26" name="chip 검토필요"/>
          <p:cNvSpPr/>
          <p:nvPr/>
        </p:nvSpPr>
        <p:spPr>
          <a:xfrm>
            <a:off x="11213287" y="384048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검토필요"/>
          <p:cNvSpPr txBox="1"/>
          <p:nvPr/>
        </p:nvSpPr>
        <p:spPr>
          <a:xfrm>
            <a:off x="11213287" y="3840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검토필요</a:t>
            </a:r>
            <a:endParaRPr lang="en-US" sz="1000" dirty="0"/>
          </a:p>
        </p:txBody>
      </p:sp>
      <p:sp>
        <p:nvSpPr>
          <p:cNvPr id="28" name="shot frame review"/>
          <p:cNvSpPr/>
          <p:nvPr/>
        </p:nvSpPr>
        <p:spPr>
          <a:xfrm>
            <a:off x="1828800" y="1463040"/>
            <a:ext cx="6492240" cy="3651885"/>
          </a:xfrm>
          <a:prstGeom prst="roundRect">
            <a:avLst>
              <a:gd name="adj" fmla="val 2003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29" name="shot review" descr="re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848" y="1536192"/>
            <a:ext cx="6232144" cy="3505581"/>
          </a:xfrm>
          <a:prstGeom prst="rect">
            <a:avLst/>
          </a:prstGeom>
        </p:spPr>
      </p:pic>
      <p:sp>
        <p:nvSpPr>
          <p:cNvPr id="30" name="card 동작"/>
          <p:cNvSpPr/>
          <p:nvPr/>
        </p:nvSpPr>
        <p:spPr>
          <a:xfrm>
            <a:off x="8549640" y="1463040"/>
            <a:ext cx="3322015" cy="4754880"/>
          </a:xfrm>
          <a:prstGeom prst="roundRect">
            <a:avLst>
              <a:gd name="adj" fmla="val 2202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1" name="card title 동작"/>
          <p:cNvSpPr txBox="1"/>
          <p:nvPr/>
        </p:nvSpPr>
        <p:spPr>
          <a:xfrm>
            <a:off x="8732520" y="160020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동작</a:t>
            </a:r>
            <a:endParaRPr lang="en-US" sz="1400" dirty="0"/>
          </a:p>
        </p:txBody>
      </p:sp>
      <p:sp>
        <p:nvSpPr>
          <p:cNvPr id="32" name="card body 동작"/>
          <p:cNvSpPr txBox="1"/>
          <p:nvPr/>
        </p:nvSpPr>
        <p:spPr>
          <a:xfrm>
            <a:off x="8732520" y="1965960"/>
            <a:ext cx="295625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검토 축 —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스코프 판정 · 수량 · Description · 검출 · 입력 자료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(등록 안 된 사유는 OTHER 로 보이고 숨기지 않음)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행마다 미처리 · 확인함 · 수정함 · 보류 — 한 일만 저장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검색(Ctrl+F) · 귀속 · 검토 필요만 · 개정 필터(추가만 · 수정만 · 삭제만) · 열별 필터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Description 일괄 적용 — 같은 도면 · 같은 TYPE · 같은 문장인 묶음에 한 번에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이름표(접미) · 사용자 입력 사유는 근거 패널에 SUFFIX: 로 남는다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7" name="menu active"/>
          <p:cNvSpPr/>
          <p:nvPr/>
        </p:nvSpPr>
        <p:spPr>
          <a:xfrm>
            <a:off x="109728" y="1545336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출력과 신고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최종 저장 · Excel 출력 · 변경 내역 Excel · VOC</a:t>
            </a:r>
            <a:endParaRPr lang="en-US" sz="1300" dirty="0"/>
          </a:p>
        </p:txBody>
      </p:sp>
      <p:sp>
        <p:nvSpPr>
          <p:cNvPr id="26" name="chip VOC"/>
          <p:cNvSpPr/>
          <p:nvPr/>
        </p:nvSpPr>
        <p:spPr>
          <a:xfrm>
            <a:off x="11304727" y="384048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VOC"/>
          <p:cNvSpPr txBox="1"/>
          <p:nvPr/>
        </p:nvSpPr>
        <p:spPr>
          <a:xfrm>
            <a:off x="11304727" y="3840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VOC</a:t>
            </a:r>
            <a:endParaRPr lang="en-US" sz="1000" dirty="0"/>
          </a:p>
        </p:txBody>
      </p:sp>
      <p:sp>
        <p:nvSpPr>
          <p:cNvPr id="28" name="chip Excel"/>
          <p:cNvSpPr/>
          <p:nvPr/>
        </p:nvSpPr>
        <p:spPr>
          <a:xfrm>
            <a:off x="10554919" y="38404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9" name="chip text Excel"/>
          <p:cNvSpPr txBox="1"/>
          <p:nvPr/>
        </p:nvSpPr>
        <p:spPr>
          <a:xfrm>
            <a:off x="10554919" y="38404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Excel</a:t>
            </a:r>
            <a:endParaRPr lang="en-US" sz="1000" dirty="0"/>
          </a:p>
        </p:txBody>
      </p:sp>
      <p:sp>
        <p:nvSpPr>
          <p:cNvPr id="30" name="shot frame voc"/>
          <p:cNvSpPr/>
          <p:nvPr/>
        </p:nvSpPr>
        <p:spPr>
          <a:xfrm>
            <a:off x="1828800" y="1463040"/>
            <a:ext cx="6492240" cy="3651885"/>
          </a:xfrm>
          <a:prstGeom prst="roundRect">
            <a:avLst>
              <a:gd name="adj" fmla="val 2003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31" name="shot voc" descr="vo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848" y="1536192"/>
            <a:ext cx="6232144" cy="3505581"/>
          </a:xfrm>
          <a:prstGeom prst="rect">
            <a:avLst/>
          </a:prstGeom>
        </p:spPr>
      </p:pic>
      <p:sp>
        <p:nvSpPr>
          <p:cNvPr id="32" name="card 출력"/>
          <p:cNvSpPr/>
          <p:nvPr/>
        </p:nvSpPr>
        <p:spPr>
          <a:xfrm>
            <a:off x="8549640" y="1463040"/>
            <a:ext cx="3322015" cy="4754880"/>
          </a:xfrm>
          <a:prstGeom prst="roundRect">
            <a:avLst>
              <a:gd name="adj" fmla="val 2202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3" name="card title 출력"/>
          <p:cNvSpPr txBox="1"/>
          <p:nvPr/>
        </p:nvSpPr>
        <p:spPr>
          <a:xfrm>
            <a:off x="8732520" y="160020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출력</a:t>
            </a:r>
            <a:endParaRPr lang="en-US" sz="1400" dirty="0"/>
          </a:p>
        </p:txBody>
      </p:sp>
      <p:sp>
        <p:nvSpPr>
          <p:cNvPr id="34" name="card body 출력"/>
          <p:cNvSpPr txBox="1"/>
          <p:nvPr/>
        </p:nvSpPr>
        <p:spPr>
          <a:xfrm>
            <a:off x="8732520" y="1965960"/>
            <a:ext cx="295625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3F33"/>
                </a:solidFill>
              </a:rPr>
              <a:t>최종 저장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— 편집·삭제·마크업을 스냅샷으로 굳히고 첫 화면 저장 이력에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3F33"/>
                </a:solidFill>
              </a:rPr>
              <a:t>Excel 출력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— 발주처 양식 FIELD · MOV · BFV 에 그대로 (REMARK 앞머리에 개정·사용자 추가·오검출 표시)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3F33"/>
                </a:solidFill>
              </a:rPr>
              <a:t>변경 내역 Excel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— 요약 · 추가 · 수정 · 삭제 · 장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3F33"/>
                </a:solidFill>
              </a:rPr>
              <a:t>VOC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— 못 읽은 것·틀린 것·바라는 기능을 분류 + 사유 + 이름만 적으면 서버가 분석·장·행·엔진 값·도면 조각을 담아 VOC 함에 쌓는다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반영된 VOC 는 '반영됨 — hotfixNN' 으로 표시되고 다시 반영되지 않는다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7" name="menu active"/>
          <p:cNvSpPr/>
          <p:nvPr/>
        </p:nvSpPr>
        <p:spPr>
          <a:xfrm>
            <a:off x="109728" y="1545336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듀얼 모니터 — 도면 · 목록을 새 창으로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두 창이 같은 결과를 보며 서로 연동된다</a:t>
            </a:r>
            <a:endParaRPr lang="en-US" sz="1300" dirty="0"/>
          </a:p>
        </p:txBody>
      </p:sp>
      <p:sp>
        <p:nvSpPr>
          <p:cNvPr id="26" name="chip ⧉"/>
          <p:cNvSpPr/>
          <p:nvPr/>
        </p:nvSpPr>
        <p:spPr>
          <a:xfrm>
            <a:off x="11487607" y="38404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⧉"/>
          <p:cNvSpPr txBox="1"/>
          <p:nvPr/>
        </p:nvSpPr>
        <p:spPr>
          <a:xfrm>
            <a:off x="11487607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⧉</a:t>
            </a:r>
            <a:endParaRPr lang="en-US" sz="1000" dirty="0"/>
          </a:p>
        </p:txBody>
      </p:sp>
      <p:sp>
        <p:nvSpPr>
          <p:cNvPr id="28" name="shot frame popd"/>
          <p:cNvSpPr/>
          <p:nvPr/>
        </p:nvSpPr>
        <p:spPr>
          <a:xfrm>
            <a:off x="1828800" y="1463040"/>
            <a:ext cx="4907128" cy="2760259"/>
          </a:xfrm>
          <a:prstGeom prst="roundRect">
            <a:avLst>
              <a:gd name="adj" fmla="val 2650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29" name="shot popd" descr="pop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848" y="1536192"/>
            <a:ext cx="4647032" cy="2613955"/>
          </a:xfrm>
          <a:prstGeom prst="rect">
            <a:avLst/>
          </a:prstGeom>
        </p:spPr>
      </p:pic>
      <p:sp>
        <p:nvSpPr>
          <p:cNvPr id="30" name="shot frame popl"/>
          <p:cNvSpPr/>
          <p:nvPr/>
        </p:nvSpPr>
        <p:spPr>
          <a:xfrm>
            <a:off x="6964528" y="1463040"/>
            <a:ext cx="4907128" cy="2760259"/>
          </a:xfrm>
          <a:prstGeom prst="roundRect">
            <a:avLst>
              <a:gd name="adj" fmla="val 2650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31" name="shot popl" descr="pop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576" y="1536192"/>
            <a:ext cx="4647032" cy="2613955"/>
          </a:xfrm>
          <a:prstGeom prst="rect">
            <a:avLst/>
          </a:prstGeom>
        </p:spPr>
      </p:pic>
      <p:sp>
        <p:nvSpPr>
          <p:cNvPr id="32" name="card 동작"/>
          <p:cNvSpPr/>
          <p:nvPr/>
        </p:nvSpPr>
        <p:spPr>
          <a:xfrm>
            <a:off x="1828800" y="4451899"/>
            <a:ext cx="4907128" cy="1811741"/>
          </a:xfrm>
          <a:prstGeom prst="roundRect">
            <a:avLst>
              <a:gd name="adj" fmla="val 4038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3" name="card title 동작"/>
          <p:cNvSpPr txBox="1"/>
          <p:nvPr/>
        </p:nvSpPr>
        <p:spPr>
          <a:xfrm>
            <a:off x="2011680" y="4589059"/>
            <a:ext cx="454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동작</a:t>
            </a:r>
            <a:endParaRPr lang="en-US" sz="1400" dirty="0"/>
          </a:p>
        </p:txBody>
      </p:sp>
      <p:sp>
        <p:nvSpPr>
          <p:cNvPr id="34" name="card body 동작"/>
          <p:cNvSpPr txBox="1"/>
          <p:nvPr/>
        </p:nvSpPr>
        <p:spPr>
          <a:xfrm>
            <a:off x="2011680" y="4954819"/>
            <a:ext cx="4541368" cy="117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⧉ 도면 새 창 · ⧉ 목록 새 창 — 각 모니터에 하나씩 전체화면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목록에서 행을 누르면 도면 창이 그 장·그 상자로 · 도면에서 상자를 누르면 목록 창이 그 행·근거로</a:t>
            </a:r>
            <a:endParaRPr lang="en-US" sz="1150" dirty="0"/>
          </a:p>
        </p:txBody>
      </p:sp>
      <p:sp>
        <p:nvSpPr>
          <p:cNvPr id="35" name="card 연동"/>
          <p:cNvSpPr/>
          <p:nvPr/>
        </p:nvSpPr>
        <p:spPr>
          <a:xfrm>
            <a:off x="6964528" y="4451899"/>
            <a:ext cx="4907128" cy="1811741"/>
          </a:xfrm>
          <a:prstGeom prst="roundRect">
            <a:avLst>
              <a:gd name="adj" fmla="val 4038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6" name="card title 연동"/>
          <p:cNvSpPr txBox="1"/>
          <p:nvPr/>
        </p:nvSpPr>
        <p:spPr>
          <a:xfrm>
            <a:off x="7147408" y="4589059"/>
            <a:ext cx="454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연동</a:t>
            </a:r>
            <a:endParaRPr lang="en-US" sz="1400" dirty="0"/>
          </a:p>
        </p:txBody>
      </p:sp>
      <p:sp>
        <p:nvSpPr>
          <p:cNvPr id="37" name="card body 연동"/>
          <p:cNvSpPr txBox="1"/>
          <p:nvPr/>
        </p:nvSpPr>
        <p:spPr>
          <a:xfrm>
            <a:off x="7147408" y="4954819"/>
            <a:ext cx="4541368" cy="117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저장은 쓰기 요청이 끝난 것을 보고 알린다 — 받은 창은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그 행만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다시 받는다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장 · 고른 행 · Shift 묶음 · 메모 · 결과 전환이 같이 움직인다 · ⇆ 한 창으로 합치기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7" name="menu active"/>
          <p:cNvSpPr/>
          <p:nvPr/>
        </p:nvSpPr>
        <p:spPr>
          <a:xfrm>
            <a:off x="109728" y="1545336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단축키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이 화면이 실제로 받는 키만 적는다 — ⌨ 단추 또는 도면에서 ?</a:t>
            </a:r>
            <a:endParaRPr lang="en-US" sz="1300" dirty="0"/>
          </a:p>
        </p:txBody>
      </p:sp>
      <p:sp>
        <p:nvSpPr>
          <p:cNvPr id="26" name="chip ⌨"/>
          <p:cNvSpPr/>
          <p:nvPr/>
        </p:nvSpPr>
        <p:spPr>
          <a:xfrm>
            <a:off x="11487607" y="38404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⌨"/>
          <p:cNvSpPr txBox="1"/>
          <p:nvPr/>
        </p:nvSpPr>
        <p:spPr>
          <a:xfrm>
            <a:off x="11487607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⌨</a:t>
            </a:r>
            <a:endParaRPr lang="en-US" sz="1000" dirty="0"/>
          </a:p>
        </p:txBody>
      </p:sp>
      <p:sp>
        <p:nvSpPr>
          <p:cNvPr id="28" name="shot frame keys"/>
          <p:cNvSpPr/>
          <p:nvPr/>
        </p:nvSpPr>
        <p:spPr>
          <a:xfrm>
            <a:off x="1828800" y="1463040"/>
            <a:ext cx="6492240" cy="3651885"/>
          </a:xfrm>
          <a:prstGeom prst="roundRect">
            <a:avLst>
              <a:gd name="adj" fmla="val 2003"/>
            </a:avLst>
          </a:prstGeom>
          <a:solidFill>
            <a:srgbClr val="EFE8D8"/>
          </a:solidFill>
          <a:ln w="9525">
            <a:solidFill>
              <a:srgbClr val="E3DCCB"/>
            </a:solidFill>
            <a:prstDash val="solid"/>
          </a:ln>
        </p:spPr>
      </p:sp>
      <p:pic>
        <p:nvPicPr>
          <p:cNvPr id="29" name="shot keys" descr="ke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848" y="1536192"/>
            <a:ext cx="6232144" cy="3505581"/>
          </a:xfrm>
          <a:prstGeom prst="rect">
            <a:avLst/>
          </a:prstGeom>
        </p:spPr>
      </p:pic>
      <p:sp>
        <p:nvSpPr>
          <p:cNvPr id="30" name="card 자주 쓰는 키"/>
          <p:cNvSpPr/>
          <p:nvPr/>
        </p:nvSpPr>
        <p:spPr>
          <a:xfrm>
            <a:off x="8549640" y="1463040"/>
            <a:ext cx="3322015" cy="4754880"/>
          </a:xfrm>
          <a:prstGeom prst="roundRect">
            <a:avLst>
              <a:gd name="adj" fmla="val 2202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1" name="card title 자주 쓰는 키"/>
          <p:cNvSpPr txBox="1"/>
          <p:nvPr/>
        </p:nvSpPr>
        <p:spPr>
          <a:xfrm>
            <a:off x="8732520" y="160020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B4"/>
                </a:solidFill>
              </a:rPr>
              <a:t>자주 쓰는 키</a:t>
            </a:r>
            <a:endParaRPr lang="en-US" sz="1400" dirty="0"/>
          </a:p>
        </p:txBody>
      </p:sp>
      <p:sp>
        <p:nvSpPr>
          <p:cNvPr id="32" name="card body 자주 쓰는 키"/>
          <p:cNvSpPr txBox="1"/>
          <p:nvPr/>
        </p:nvSpPr>
        <p:spPr>
          <a:xfrm>
            <a:off x="8732520" y="1965960"/>
            <a:ext cx="295625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3F33"/>
                </a:solidFill>
              </a:rPr>
              <a:t>Ctrl+F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검색 ·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F2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편집 · Enter / Tab 저장 후 이동 · Esc 되돌림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3F33"/>
                </a:solidFill>
              </a:rPr>
              <a:t>Shift+↑↓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범위 · Ctrl+C / Ctrl+V ·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A3F33"/>
                </a:solidFill>
              </a:rPr>
              <a:t>Ctrl+Enter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범위 채우기 · Delete 도면 값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3F33"/>
                </a:solidFill>
              </a:rPr>
              <a:t>Ctrl+Z / Ctrl+Y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F33"/>
                </a:solidFill>
              </a:rPr>
              <a:t> 되돌리기 · 다시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Shift+클릭 · Shift+끌기 묶음 선택 · Ctrl+휠 확대 · Alt+← → 변경 이동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3F33"/>
                </a:solidFill>
              </a:rPr>
              <a:t>메모 Ctrl+Enter 저장 · ⛶ 전체화면 · ? 도움말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panel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" name="menu brand"/>
          <p:cNvSpPr txBox="1"/>
          <p:nvPr/>
        </p:nvSpPr>
        <p:spPr>
          <a:xfrm>
            <a:off x="137160" y="201168"/>
            <a:ext cx="1371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SAMSUNG C&amp;T</a:t>
            </a:r>
            <a:endParaRPr lang="en-US" sz="1100" dirty="0"/>
          </a:p>
        </p:txBody>
      </p:sp>
      <p:sp>
        <p:nvSpPr>
          <p:cNvPr id="4" name="menu brand 2"/>
          <p:cNvSpPr txBox="1"/>
          <p:nvPr/>
        </p:nvSpPr>
        <p:spPr>
          <a:xfrm>
            <a:off x="137160" y="530352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9C4D8"/>
                </a:solidFill>
              </a:rPr>
              <a:t>P&amp;ID EXTRACTOR</a:t>
            </a:r>
            <a:endParaRPr lang="en-US" sz="800" dirty="0"/>
          </a:p>
        </p:txBody>
      </p:sp>
      <p:sp>
        <p:nvSpPr>
          <p:cNvPr id="5" name="menu head"/>
          <p:cNvSpPr txBox="1"/>
          <p:nvPr/>
        </p:nvSpPr>
        <p:spPr>
          <a:xfrm>
            <a:off x="13716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MENU</a:t>
            </a:r>
            <a:endParaRPr lang="en-US" sz="900" dirty="0"/>
          </a:p>
        </p:txBody>
      </p:sp>
      <p:sp>
        <p:nvSpPr>
          <p:cNvPr id="6" name="menu active"/>
          <p:cNvSpPr/>
          <p:nvPr/>
        </p:nvSpPr>
        <p:spPr>
          <a:xfrm>
            <a:off x="109728" y="1161288"/>
            <a:ext cx="1335024" cy="329184"/>
          </a:xfrm>
          <a:prstGeom prst="roundRect">
            <a:avLst>
              <a:gd name="adj" fmla="val 1666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7" name="menu 홈 (대시보드)"/>
          <p:cNvSpPr txBox="1"/>
          <p:nvPr/>
        </p:nvSpPr>
        <p:spPr>
          <a:xfrm>
            <a:off x="201168" y="118872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홈</a:t>
            </a:r>
            <a:endParaRPr lang="en-US" sz="1100" dirty="0"/>
          </a:p>
        </p:txBody>
      </p:sp>
      <p:sp>
        <p:nvSpPr>
          <p:cNvPr id="8" name="menu 전체"/>
          <p:cNvSpPr txBox="1"/>
          <p:nvPr/>
        </p:nvSpPr>
        <p:spPr>
          <a:xfrm>
            <a:off x="201168" y="157276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전체</a:t>
            </a:r>
            <a:endParaRPr lang="en-US" sz="1100" dirty="0"/>
          </a:p>
        </p:txBody>
      </p:sp>
      <p:sp>
        <p:nvSpPr>
          <p:cNvPr id="9" name="menu count 전체"/>
          <p:cNvSpPr txBox="1"/>
          <p:nvPr/>
        </p:nvSpPr>
        <p:spPr>
          <a:xfrm>
            <a:off x="96012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1991</a:t>
            </a:r>
            <a:endParaRPr lang="en-US" sz="1000" dirty="0"/>
          </a:p>
        </p:txBody>
      </p:sp>
      <p:sp>
        <p:nvSpPr>
          <p:cNvPr id="10" name="menu Field"/>
          <p:cNvSpPr txBox="1"/>
          <p:nvPr/>
        </p:nvSpPr>
        <p:spPr>
          <a:xfrm>
            <a:off x="201168" y="1956816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11" name="menu count Field"/>
          <p:cNvSpPr txBox="1"/>
          <p:nvPr/>
        </p:nvSpPr>
        <p:spPr>
          <a:xfrm>
            <a:off x="96012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1628</a:t>
            </a:r>
            <a:endParaRPr lang="en-US" sz="1000" dirty="0"/>
          </a:p>
        </p:txBody>
      </p:sp>
      <p:sp>
        <p:nvSpPr>
          <p:cNvPr id="12" name="menu BFV"/>
          <p:cNvSpPr txBox="1"/>
          <p:nvPr/>
        </p:nvSpPr>
        <p:spPr>
          <a:xfrm>
            <a:off x="201168" y="234086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BFV</a:t>
            </a:r>
            <a:endParaRPr lang="en-US" sz="1100" dirty="0"/>
          </a:p>
        </p:txBody>
      </p:sp>
      <p:sp>
        <p:nvSpPr>
          <p:cNvPr id="13" name="menu count BFV"/>
          <p:cNvSpPr txBox="1"/>
          <p:nvPr/>
        </p:nvSpPr>
        <p:spPr>
          <a:xfrm>
            <a:off x="960120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menu MOV"/>
          <p:cNvSpPr txBox="1"/>
          <p:nvPr/>
        </p:nvSpPr>
        <p:spPr>
          <a:xfrm>
            <a:off x="201168" y="2724912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</a:t>
            </a:r>
            <a:endParaRPr lang="en-US" sz="1100" dirty="0"/>
          </a:p>
        </p:txBody>
      </p:sp>
      <p:sp>
        <p:nvSpPr>
          <p:cNvPr id="15" name="menu count MOV"/>
          <p:cNvSpPr txBox="1"/>
          <p:nvPr/>
        </p:nvSpPr>
        <p:spPr>
          <a:xfrm>
            <a:off x="9601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menu Pneumatic"/>
          <p:cNvSpPr txBox="1"/>
          <p:nvPr/>
        </p:nvSpPr>
        <p:spPr>
          <a:xfrm>
            <a:off x="201168" y="31089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Pneumatic</a:t>
            </a:r>
            <a:endParaRPr lang="en-US" sz="1100" dirty="0"/>
          </a:p>
        </p:txBody>
      </p:sp>
      <p:sp>
        <p:nvSpPr>
          <p:cNvPr id="17" name="menu count Pneumatic"/>
          <p:cNvSpPr txBox="1"/>
          <p:nvPr/>
        </p:nvSpPr>
        <p:spPr>
          <a:xfrm>
            <a:off x="960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menu 검토필요"/>
          <p:cNvSpPr txBox="1"/>
          <p:nvPr/>
        </p:nvSpPr>
        <p:spPr>
          <a:xfrm>
            <a:off x="201168" y="34930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검토필요</a:t>
            </a:r>
            <a:endParaRPr lang="en-US" sz="1100" dirty="0"/>
          </a:p>
        </p:txBody>
      </p:sp>
      <p:sp>
        <p:nvSpPr>
          <p:cNvPr id="19" name="menu count 검토필요"/>
          <p:cNvSpPr txBox="1"/>
          <p:nvPr/>
        </p:nvSpPr>
        <p:spPr>
          <a:xfrm>
            <a:off x="96012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4D8"/>
                </a:solidFill>
              </a:rPr>
              <a:t>1782</a:t>
            </a:r>
            <a:endParaRPr lang="en-US" sz="1000" dirty="0"/>
          </a:p>
        </p:txBody>
      </p:sp>
      <p:sp>
        <p:nvSpPr>
          <p:cNvPr id="20" name="menu head 2"/>
          <p:cNvSpPr txBox="1"/>
          <p:nvPr/>
        </p:nvSpPr>
        <p:spPr>
          <a:xfrm>
            <a:off x="137160" y="4014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B5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21" name="menu project"/>
          <p:cNvSpPr/>
          <p:nvPr/>
        </p:nvSpPr>
        <p:spPr>
          <a:xfrm>
            <a:off x="109728" y="4288536"/>
            <a:ext cx="1335024" cy="566928"/>
          </a:xfrm>
          <a:prstGeom prst="roundRect">
            <a:avLst>
              <a:gd name="adj" fmla="val 9677"/>
            </a:avLst>
          </a:prstGeom>
          <a:solidFill>
            <a:srgbClr val="2A3750"/>
          </a:solidFill>
          <a:ln w="12700">
            <a:solidFill>
              <a:srgbClr val="2A3750"/>
            </a:solidFill>
            <a:prstDash val="solid"/>
          </a:ln>
        </p:spPr>
      </p:sp>
      <p:sp>
        <p:nvSpPr>
          <p:cNvPr id="22" name="menu project text"/>
          <p:cNvSpPr txBox="1"/>
          <p:nvPr/>
        </p:nvSpPr>
        <p:spPr>
          <a:xfrm>
            <a:off x="201168" y="43068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QF  QFE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D66B"/>
                </a:solidFill>
              </a:rPr>
              <a:t>자동 · 변경 180</a:t>
            </a:r>
            <a:endParaRPr lang="en-US" sz="1100" dirty="0"/>
          </a:p>
        </p:txBody>
      </p:sp>
      <p:sp>
        <p:nvSpPr>
          <p:cNvPr id="23" name="menu user"/>
          <p:cNvSpPr txBox="1"/>
          <p:nvPr/>
        </p:nvSpPr>
        <p:spPr>
          <a:xfrm>
            <a:off x="137160" y="6172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D8"/>
                </a:solidFill>
              </a:rPr>
              <a:t>사용자: 홍길동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1A0"/>
                </a:solidFill>
              </a:rPr>
              <a:t>● 서버 연결됨</a:t>
            </a:r>
            <a:endParaRPr lang="en-US" sz="9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1828800" y="29260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B4"/>
                </a:solidFill>
              </a:rPr>
              <a:t>속도와 검증</a:t>
            </a:r>
            <a:endParaRPr lang="en-US" sz="26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182880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4F"/>
                </a:solidFill>
              </a:rPr>
              <a:t>여러 번 시뮬레이션하며 고친 결과 — 답은 그대로, 시간만 줄었다</a:t>
            </a:r>
            <a:endParaRPr lang="en-US" sz="1300" dirty="0"/>
          </a:p>
        </p:txBody>
      </p:sp>
      <p:sp>
        <p:nvSpPr>
          <p:cNvPr id="26" name="chip hotfix69~80"/>
          <p:cNvSpPr/>
          <p:nvPr/>
        </p:nvSpPr>
        <p:spPr>
          <a:xfrm>
            <a:off x="10573207" y="384048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C9D7F0"/>
            </a:solidFill>
            <a:prstDash val="solid"/>
          </a:ln>
        </p:spPr>
      </p:sp>
      <p:sp>
        <p:nvSpPr>
          <p:cNvPr id="27" name="chip text hotfix69~80"/>
          <p:cNvSpPr txBox="1"/>
          <p:nvPr/>
        </p:nvSpPr>
        <p:spPr>
          <a:xfrm>
            <a:off x="10573207" y="38404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FB4"/>
                </a:solidFill>
              </a:rPr>
              <a:t>hotfix69~80</a:t>
            </a:r>
            <a:endParaRPr lang="en-US" sz="1000" dirty="0"/>
          </a:p>
        </p:txBody>
      </p:sp>
      <p:graphicFrame>
        <p:nvGraphicFramePr>
          <p:cNvPr id="19" name="table ui spe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0" y="1463040"/>
          <a:ext cx="5760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화면 동작 (QFE 1,991행)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이전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지금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B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결과 열기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6.3초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3F33"/>
                          </a:solidFill>
                        </a:rPr>
                        <a:t>1.9초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장 넘기기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840ms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3F33"/>
                          </a:solidFill>
                        </a:rPr>
                        <a:t>249ms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검색 한 글자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1,065ms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3F33"/>
                          </a:solidFill>
                        </a:rPr>
                        <a:t>148ms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목록 끝까지 굴리기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2.4초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3F33"/>
                          </a:solidFill>
                        </a:rPr>
                        <a:t>1.1초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묶은 73행 공급 주체 바꾸기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847ms (요청 73)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3F33"/>
                          </a:solidFill>
                        </a:rPr>
                        <a:t>215ms (요청 1)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묶은 20행 식별 지우기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10.9초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3F33"/>
                          </a:solidFill>
                        </a:rPr>
                        <a:t>0.42초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analysis spe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463040"/>
          <a:ext cx="4007815" cy="914400"/>
        </p:xfrm>
        <a:graphic>
          <a:graphicData uri="http://schemas.openxmlformats.org/drawingml/2006/table">
            <a:tbl>
              <a:tblPr/>
              <a:tblGrid>
                <a:gridCol w="1813255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분석 시간 (같은 답)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이전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지금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B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AL NOUF1 · 58장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830초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3F33"/>
                          </a:solidFill>
                        </a:rPr>
                        <a:t>366초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TC2 · 60장 (270° 회전)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632초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3F33"/>
                          </a:solidFill>
                        </a:rPr>
                        <a:t>308초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QFE · 93장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984초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3F33"/>
                          </a:solidFill>
                        </a:rPr>
                        <a:t>554초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UAD · DXF 32장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F33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3F33"/>
                          </a:solidFill>
                        </a:rPr>
                        <a:t>67초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6"/>
                    </a:solidFill>
                  </a:tcPr>
                </a:tc>
              </a:tr>
            </a:tbl>
          </a:graphicData>
        </a:graphic>
      </p:graphicFrame>
      <p:sp>
        <p:nvSpPr>
          <p:cNvPr id="30" name="stat card 1,060"/>
          <p:cNvSpPr/>
          <p:nvPr/>
        </p:nvSpPr>
        <p:spPr>
          <a:xfrm>
            <a:off x="1828800" y="4343400"/>
            <a:ext cx="2373554" cy="1371600"/>
          </a:xfrm>
          <a:prstGeom prst="roundRect">
            <a:avLst>
              <a:gd name="adj" fmla="val 5333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1" name="stat value 1,060"/>
          <p:cNvSpPr txBox="1"/>
          <p:nvPr/>
        </p:nvSpPr>
        <p:spPr>
          <a:xfrm>
            <a:off x="2011680" y="4480560"/>
            <a:ext cx="200779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FB4"/>
                </a:solidFill>
              </a:rPr>
              <a:t>1,060</a:t>
            </a:r>
            <a:endParaRPr lang="en-US" sz="2400" dirty="0"/>
          </a:p>
        </p:txBody>
      </p:sp>
      <p:sp>
        <p:nvSpPr>
          <p:cNvPr id="32" name="stat label 1,060"/>
          <p:cNvSpPr txBox="1"/>
          <p:nvPr/>
        </p:nvSpPr>
        <p:spPr>
          <a:xfrm>
            <a:off x="2011680" y="5120640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F4F"/>
                </a:solidFill>
              </a:rPr>
              <a:t>빠른 시험 통과 (18 건너뜀)</a:t>
            </a:r>
            <a:endParaRPr lang="en-US" sz="1100" dirty="0"/>
          </a:p>
        </p:txBody>
      </p:sp>
      <p:sp>
        <p:nvSpPr>
          <p:cNvPr id="33" name="stat card 5xx 0"/>
          <p:cNvSpPr/>
          <p:nvPr/>
        </p:nvSpPr>
        <p:spPr>
          <a:xfrm>
            <a:off x="4385234" y="4343400"/>
            <a:ext cx="2373554" cy="1371600"/>
          </a:xfrm>
          <a:prstGeom prst="roundRect">
            <a:avLst>
              <a:gd name="adj" fmla="val 5333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4" name="stat value 5xx 0"/>
          <p:cNvSpPr txBox="1"/>
          <p:nvPr/>
        </p:nvSpPr>
        <p:spPr>
          <a:xfrm>
            <a:off x="4568114" y="4480560"/>
            <a:ext cx="200779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FB4"/>
                </a:solidFill>
              </a:rPr>
              <a:t>5xx 0</a:t>
            </a:r>
            <a:endParaRPr lang="en-US" sz="2400" dirty="0"/>
          </a:p>
        </p:txBody>
      </p:sp>
      <p:sp>
        <p:nvSpPr>
          <p:cNvPr id="35" name="stat label 5xx 0"/>
          <p:cNvSpPr txBox="1"/>
          <p:nvPr/>
        </p:nvSpPr>
        <p:spPr>
          <a:xfrm>
            <a:off x="4568114" y="5120640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F4F"/>
                </a:solidFill>
              </a:rPr>
              <a:t>API 퍼징 · 모든 경로 × 본문 14종</a:t>
            </a:r>
            <a:endParaRPr lang="en-US" sz="1100" dirty="0"/>
          </a:p>
        </p:txBody>
      </p:sp>
      <p:sp>
        <p:nvSpPr>
          <p:cNvPr id="36" name="stat card 0 결함"/>
          <p:cNvSpPr/>
          <p:nvPr/>
        </p:nvSpPr>
        <p:spPr>
          <a:xfrm>
            <a:off x="6941668" y="4343400"/>
            <a:ext cx="2373554" cy="1371600"/>
          </a:xfrm>
          <a:prstGeom prst="roundRect">
            <a:avLst>
              <a:gd name="adj" fmla="val 5333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7" name="stat value 0 결함"/>
          <p:cNvSpPr txBox="1"/>
          <p:nvPr/>
        </p:nvSpPr>
        <p:spPr>
          <a:xfrm>
            <a:off x="7124548" y="4480560"/>
            <a:ext cx="200779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FB4"/>
                </a:solidFill>
              </a:rPr>
              <a:t>0 결함</a:t>
            </a:r>
            <a:endParaRPr lang="en-US" sz="2400" dirty="0"/>
          </a:p>
        </p:txBody>
      </p:sp>
      <p:sp>
        <p:nvSpPr>
          <p:cNvPr id="38" name="stat label 0 결함"/>
          <p:cNvSpPr txBox="1"/>
          <p:nvPr/>
        </p:nvSpPr>
        <p:spPr>
          <a:xfrm>
            <a:off x="7124548" y="5120640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F4F"/>
                </a:solidFill>
              </a:rPr>
              <a:t>화면 전수 클릭 · 전 흐름 QA 시뮬레이션</a:t>
            </a:r>
            <a:endParaRPr lang="en-US" sz="1100" dirty="0"/>
          </a:p>
        </p:txBody>
      </p:sp>
      <p:sp>
        <p:nvSpPr>
          <p:cNvPr id="39" name="stat card 4 프로젝트"/>
          <p:cNvSpPr/>
          <p:nvPr/>
        </p:nvSpPr>
        <p:spPr>
          <a:xfrm>
            <a:off x="9498101" y="4343400"/>
            <a:ext cx="2373554" cy="1371600"/>
          </a:xfrm>
          <a:prstGeom prst="roundRect">
            <a:avLst>
              <a:gd name="adj" fmla="val 5333"/>
            </a:avLst>
          </a:prstGeom>
          <a:solidFill>
            <a:srgbClr val="FFFDF6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40" name="stat value 4 프로젝트"/>
          <p:cNvSpPr txBox="1"/>
          <p:nvPr/>
        </p:nvSpPr>
        <p:spPr>
          <a:xfrm>
            <a:off x="9680981" y="4480560"/>
            <a:ext cx="200779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FB4"/>
                </a:solidFill>
              </a:rPr>
              <a:t>4 프로젝트</a:t>
            </a:r>
            <a:endParaRPr lang="en-US" sz="2400" dirty="0"/>
          </a:p>
        </p:txBody>
      </p:sp>
      <p:sp>
        <p:nvSpPr>
          <p:cNvPr id="41" name="stat label 4 프로젝트"/>
          <p:cNvSpPr txBox="1"/>
          <p:nvPr/>
        </p:nvSpPr>
        <p:spPr>
          <a:xfrm>
            <a:off x="9680981" y="5120640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F4F"/>
                </a:solidFill>
              </a:rPr>
              <a:t>회귀 기준선 — 지문·행·Q'ty·축3 불변</a:t>
            </a:r>
            <a:endParaRPr lang="en-US" sz="1100" dirty="0"/>
          </a:p>
        </p:txBody>
      </p:sp>
      <p:sp>
        <p:nvSpPr>
          <p:cNvPr id="42" name="speed note"/>
          <p:cNvSpPr txBox="1"/>
          <p:nvPr/>
        </p:nvSpPr>
        <p:spPr>
          <a:xfrm>
            <a:off x="1828800" y="5852160"/>
            <a:ext cx="10042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4F"/>
                </a:solidFill>
              </a:rPr>
              <a:t>측정은 같은 기계에서 옛 코드와 새 코드를 번갈아 재는 A/B 자(spike/perf_ab.py · perf_sim.py)로 했고, 분석 시간은 네 프로젝트 지문이 같은 채로 줄었습니다.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F4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kicker"/>
          <p:cNvSpPr txBox="1"/>
          <p:nvPr/>
        </p:nvSpPr>
        <p:spPr>
          <a:xfrm>
            <a:off x="822960" y="640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9C4D8"/>
                </a:solidFill>
              </a:rPr>
              <a:t>운영</a:t>
            </a:r>
            <a:endParaRPr lang="en-US" sz="1300" dirty="0"/>
          </a:p>
        </p:txBody>
      </p:sp>
      <p:sp>
        <p:nvSpPr>
          <p:cNvPr id="3" name="closing title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부서 대시보드 안에서 그대로 쓴다</a:t>
            </a:r>
            <a:endParaRPr lang="en-US" sz="3600" dirty="0"/>
          </a:p>
        </p:txBody>
      </p:sp>
      <p:sp>
        <p:nvSpPr>
          <p:cNvPr id="4" name="closing card 사내망 서버"/>
          <p:cNvSpPr/>
          <p:nvPr/>
        </p:nvSpPr>
        <p:spPr>
          <a:xfrm>
            <a:off x="822960" y="2286000"/>
            <a:ext cx="2499284" cy="2651760"/>
          </a:xfrm>
          <a:prstGeom prst="roundRect">
            <a:avLst>
              <a:gd name="adj" fmla="val 2927"/>
            </a:avLst>
          </a:prstGeom>
          <a:solidFill>
            <a:srgbClr val="2A3750"/>
          </a:solidFill>
          <a:ln w="9525">
            <a:solidFill>
              <a:srgbClr val="3D4B66"/>
            </a:solidFill>
            <a:prstDash val="solid"/>
          </a:ln>
        </p:spPr>
      </p:sp>
      <p:sp>
        <p:nvSpPr>
          <p:cNvPr id="5" name="closing card title 사내망 서버"/>
          <p:cNvSpPr txBox="1"/>
          <p:nvPr/>
        </p:nvSpPr>
        <p:spPr>
          <a:xfrm>
            <a:off x="1005840" y="246888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6B"/>
                </a:solidFill>
              </a:rPr>
              <a:t>사내망 서버</a:t>
            </a:r>
            <a:endParaRPr lang="en-US" sz="1600" dirty="0"/>
          </a:p>
        </p:txBody>
      </p:sp>
      <p:sp>
        <p:nvSpPr>
          <p:cNvPr id="6" name="closing card body 사내망 서버"/>
          <p:cNvSpPr txBox="1"/>
          <p:nvPr/>
        </p:nvSpPr>
        <p:spPr>
          <a:xfrm>
            <a:off x="1005840" y="2971800"/>
            <a:ext cx="21335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FE6F3"/>
                </a:solidFill>
              </a:rPr>
              <a:t>run_lan_service.bat 하나로 포트 8000 · 사내망 주소만 받는 문지기 · 멈추면 10초 뒤 다시</a:t>
            </a:r>
            <a:endParaRPr lang="en-US" sz="1250" dirty="0"/>
          </a:p>
        </p:txBody>
      </p:sp>
      <p:sp>
        <p:nvSpPr>
          <p:cNvPr id="7" name="closing card 대시보드 임베드"/>
          <p:cNvSpPr/>
          <p:nvPr/>
        </p:nvSpPr>
        <p:spPr>
          <a:xfrm>
            <a:off x="3505124" y="2286000"/>
            <a:ext cx="2499284" cy="2651760"/>
          </a:xfrm>
          <a:prstGeom prst="roundRect">
            <a:avLst>
              <a:gd name="adj" fmla="val 2927"/>
            </a:avLst>
          </a:prstGeom>
          <a:solidFill>
            <a:srgbClr val="2A3750"/>
          </a:solidFill>
          <a:ln w="9525">
            <a:solidFill>
              <a:srgbClr val="3D4B66"/>
            </a:solidFill>
            <a:prstDash val="solid"/>
          </a:ln>
        </p:spPr>
      </p:sp>
      <p:sp>
        <p:nvSpPr>
          <p:cNvPr id="8" name="closing card title 대시보드 임베드"/>
          <p:cNvSpPr txBox="1"/>
          <p:nvPr/>
        </p:nvSpPr>
        <p:spPr>
          <a:xfrm>
            <a:off x="3688004" y="246888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6B"/>
                </a:solidFill>
              </a:rPr>
              <a:t>대시보드 임베드</a:t>
            </a:r>
            <a:endParaRPr lang="en-US" sz="1600" dirty="0"/>
          </a:p>
        </p:txBody>
      </p:sp>
      <p:sp>
        <p:nvSpPr>
          <p:cNvPr id="9" name="closing card body 대시보드 임베드"/>
          <p:cNvSpPr txBox="1"/>
          <p:nvPr/>
        </p:nvSpPr>
        <p:spPr>
          <a:xfrm>
            <a:off x="3688004" y="2971800"/>
            <a:ext cx="21335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FE6F3"/>
                </a:solidFill>
              </a:rPr>
              <a:t>입찰/실행 메뉴 → P&amp;ID 분석 iframe · 로그인 이름이 작성자로 자동 · ?embed=1&amp;mode=&amp;user=</a:t>
            </a:r>
            <a:endParaRPr lang="en-US" sz="1250" dirty="0"/>
          </a:p>
        </p:txBody>
      </p:sp>
      <p:sp>
        <p:nvSpPr>
          <p:cNvPr id="10" name="closing card 업데이트"/>
          <p:cNvSpPr/>
          <p:nvPr/>
        </p:nvSpPr>
        <p:spPr>
          <a:xfrm>
            <a:off x="6187288" y="2286000"/>
            <a:ext cx="2499284" cy="2651760"/>
          </a:xfrm>
          <a:prstGeom prst="roundRect">
            <a:avLst>
              <a:gd name="adj" fmla="val 2927"/>
            </a:avLst>
          </a:prstGeom>
          <a:solidFill>
            <a:srgbClr val="2A3750"/>
          </a:solidFill>
          <a:ln w="9525">
            <a:solidFill>
              <a:srgbClr val="3D4B66"/>
            </a:solidFill>
            <a:prstDash val="solid"/>
          </a:ln>
        </p:spPr>
      </p:sp>
      <p:sp>
        <p:nvSpPr>
          <p:cNvPr id="11" name="closing card title 업데이트"/>
          <p:cNvSpPr txBox="1"/>
          <p:nvPr/>
        </p:nvSpPr>
        <p:spPr>
          <a:xfrm>
            <a:off x="6370168" y="246888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6B"/>
                </a:solidFill>
              </a:rPr>
              <a:t>업데이트</a:t>
            </a:r>
            <a:endParaRPr lang="en-US" sz="1600" dirty="0"/>
          </a:p>
        </p:txBody>
      </p:sp>
      <p:sp>
        <p:nvSpPr>
          <p:cNvPr id="12" name="closing card body 업데이트"/>
          <p:cNvSpPr txBox="1"/>
          <p:nvPr/>
        </p:nvSpPr>
        <p:spPr>
          <a:xfrm>
            <a:off x="6370168" y="2971800"/>
            <a:ext cx="21335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FE6F3"/>
                </a:solidFill>
              </a:rPr>
              <a:t>변경분 꾸러미(apply_to_PID_dev · ops) · 첫 화면 오른쪽 아래 업데이트 딱지 · 옛 탭이면 새로고침 띠</a:t>
            </a:r>
            <a:endParaRPr lang="en-US" sz="1250" dirty="0"/>
          </a:p>
        </p:txBody>
      </p:sp>
      <p:sp>
        <p:nvSpPr>
          <p:cNvPr id="13" name="closing card VOC → 개발"/>
          <p:cNvSpPr/>
          <p:nvPr/>
        </p:nvSpPr>
        <p:spPr>
          <a:xfrm>
            <a:off x="8869451" y="2286000"/>
            <a:ext cx="2499284" cy="2651760"/>
          </a:xfrm>
          <a:prstGeom prst="roundRect">
            <a:avLst>
              <a:gd name="adj" fmla="val 2927"/>
            </a:avLst>
          </a:prstGeom>
          <a:solidFill>
            <a:srgbClr val="2A3750"/>
          </a:solidFill>
          <a:ln w="9525">
            <a:solidFill>
              <a:srgbClr val="3D4B66"/>
            </a:solidFill>
            <a:prstDash val="solid"/>
          </a:ln>
        </p:spPr>
      </p:sp>
      <p:sp>
        <p:nvSpPr>
          <p:cNvPr id="14" name="closing card title VOC → 개발"/>
          <p:cNvSpPr txBox="1"/>
          <p:nvPr/>
        </p:nvSpPr>
        <p:spPr>
          <a:xfrm>
            <a:off x="9052331" y="246888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6B"/>
                </a:solidFill>
              </a:rPr>
              <a:t>VOC → 개발</a:t>
            </a:r>
            <a:endParaRPr lang="en-US" sz="1600" dirty="0"/>
          </a:p>
        </p:txBody>
      </p:sp>
      <p:sp>
        <p:nvSpPr>
          <p:cNvPr id="15" name="closing card body VOC → 개발"/>
          <p:cNvSpPr txBox="1"/>
          <p:nvPr/>
        </p:nvSpPr>
        <p:spPr>
          <a:xfrm>
            <a:off x="9052331" y="2971800"/>
            <a:ext cx="21335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FE6F3"/>
                </a:solidFill>
              </a:rPr>
              <a:t>부서원 신고가 voc/inbox 에 쌓이고 개발 PC 의 Claude Code 가 읽어 반영 · 장부로 중복 반영 방지</a:t>
            </a:r>
            <a:endParaRPr lang="en-US" sz="1250" dirty="0"/>
          </a:p>
        </p:txBody>
      </p:sp>
      <p:sp>
        <p:nvSpPr>
          <p:cNvPr id="16" name="closing note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D8"/>
                </a:solidFill>
              </a:rPr>
              <a:t>문의 · VOC 는 화면 머리줄 [VOC] 단추로 — 분류 · 사유 · 이름만 적으면 나머지는 서버가 담습니다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D Extractor UI">
  <a:themeElements>
    <a:clrScheme name="PID Extractor UI">
      <a:dk1>
        <a:srgbClr val="1E2A3F"/>
      </a:dk1>
      <a:lt1>
        <a:srgbClr val="FFFFFF"/>
      </a:lt1>
      <a:dk2>
        <a:srgbClr val="4A3F33"/>
      </a:dk2>
      <a:lt2>
        <a:srgbClr val="F7F2E6"/>
      </a:lt2>
      <a:accent1>
        <a:srgbClr val="1A5FB4"/>
      </a:accent1>
      <a:accent2>
        <a:srgbClr val="2F5BD8"/>
      </a:accent2>
      <a:accent3>
        <a:srgbClr val="0F8F80"/>
      </a:accent3>
      <a:accent4>
        <a:srgbClr val="B07614"/>
      </a:accent4>
      <a:accent5>
        <a:srgbClr val="C2453F"/>
      </a:accent5>
      <a:accent6>
        <a:srgbClr val="6B5F4F"/>
      </a:accent6>
      <a:hlink>
        <a:srgbClr val="1A5FB4"/>
      </a:hlink>
      <a:folHlink>
        <a:srgbClr val="6B5F4F"/>
      </a:folHlink>
    </a:clrScheme>
    <a:fontScheme name="PID Extractor UI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P&amp;ID 계기·밸브 추출 프로그램 — 기능 소개</dc:title>
  <dc:subject>PptxGenJS Presentation</dc:subject>
  <dc:creator>P&amp;ID Extractor</dc:creator>
  <cp:lastModifiedBy>P&amp;ID Extractor</cp:lastModifiedBy>
  <cp:revision>1</cp:revision>
  <dcterms:created xsi:type="dcterms:W3CDTF">2026-10-10T04:24:54Z</dcterms:created>
  <dcterms:modified xsi:type="dcterms:W3CDTF">2026-10-10T04:24:54Z</dcterms:modified>
</cp:coreProperties>
</file>